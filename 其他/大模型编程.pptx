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386" r:id="rId2"/>
    <p:sldId id="625" r:id="rId3"/>
    <p:sldId id="586" r:id="rId4"/>
    <p:sldId id="745" r:id="rId5"/>
    <p:sldId id="748" r:id="rId6"/>
    <p:sldId id="759" r:id="rId7"/>
    <p:sldId id="749" r:id="rId8"/>
    <p:sldId id="751" r:id="rId9"/>
    <p:sldId id="750" r:id="rId10"/>
    <p:sldId id="753" r:id="rId11"/>
    <p:sldId id="757" r:id="rId12"/>
    <p:sldId id="758" r:id="rId13"/>
    <p:sldId id="746" r:id="rId14"/>
    <p:sldId id="514" r:id="rId15"/>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9A888F6-A801-0A4C-A301-3F49914D78E5}">
          <p14:sldIdLst>
            <p14:sldId id="386"/>
            <p14:sldId id="625"/>
            <p14:sldId id="586"/>
            <p14:sldId id="745"/>
            <p14:sldId id="748"/>
            <p14:sldId id="759"/>
            <p14:sldId id="749"/>
            <p14:sldId id="751"/>
            <p14:sldId id="750"/>
            <p14:sldId id="753"/>
            <p14:sldId id="757"/>
            <p14:sldId id="758"/>
            <p14:sldId id="746"/>
            <p14:sldId id="51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43ED59-20C7-4FDF-8DCA-8A14D1AA1C8C}" name="Microsoft Office User" initials="MOU" userId="Microsoft Office User"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0000"/>
    <a:srgbClr val="C62128"/>
    <a:srgbClr val="0484CD"/>
    <a:srgbClr val="12A9D7"/>
    <a:srgbClr val="FF5B5B"/>
    <a:srgbClr val="2F5597"/>
    <a:srgbClr val="9900CC"/>
    <a:srgbClr val="1286AD"/>
    <a:srgbClr val="EEF7FB"/>
    <a:srgbClr val="007F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76" autoAdjust="0"/>
    <p:restoredTop sz="95918" autoAdjust="0"/>
  </p:normalViewPr>
  <p:slideViewPr>
    <p:cSldViewPr snapToGrid="0">
      <p:cViewPr varScale="1">
        <p:scale>
          <a:sx n="85" d="100"/>
          <a:sy n="85" d="100"/>
        </p:scale>
        <p:origin x="3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3508"/>
          </a:xfrm>
          <a:prstGeom prst="rect">
            <a:avLst/>
          </a:prstGeom>
        </p:spPr>
        <p:txBody>
          <a:bodyPr vert="horz" lIns="99048" tIns="49524" rIns="99048" bIns="49524" rtlCol="0"/>
          <a:lstStyle>
            <a:lvl1pPr algn="r">
              <a:defRPr sz="1300"/>
            </a:lvl1pPr>
          </a:lstStyle>
          <a:p>
            <a:fld id="{74BCCBAF-3F09-4710-8B0F-3CFD649D0D42}" type="datetimeFigureOut">
              <a:rPr lang="zh-CN" altLang="en-US" smtClean="0"/>
              <a:t>2025/12/30</a:t>
            </a:fld>
            <a:endParaRPr lang="zh-CN" altLang="en-US"/>
          </a:p>
        </p:txBody>
      </p:sp>
      <p:sp>
        <p:nvSpPr>
          <p:cNvPr id="4" name="页脚占位符 3"/>
          <p:cNvSpPr>
            <a:spLocks noGrp="1"/>
          </p:cNvSpPr>
          <p:nvPr>
            <p:ph type="ftr" sz="quarter" idx="2"/>
          </p:nvPr>
        </p:nvSpPr>
        <p:spPr>
          <a:xfrm>
            <a:off x="0" y="9721107"/>
            <a:ext cx="3076363" cy="513507"/>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7"/>
            <a:ext cx="3076363" cy="513507"/>
          </a:xfrm>
          <a:prstGeom prst="rect">
            <a:avLst/>
          </a:prstGeom>
        </p:spPr>
        <p:txBody>
          <a:bodyPr vert="horz" lIns="99048" tIns="49524" rIns="99048" bIns="49524" rtlCol="0" anchor="b"/>
          <a:lstStyle>
            <a:lvl1pPr algn="r">
              <a:defRPr sz="1300"/>
            </a:lvl1pPr>
          </a:lstStyle>
          <a:p>
            <a:fld id="{FB2A64A5-80F0-4B62-A7CB-B8BCCF64471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701CEEE6-5EB4-4EE9-B3A5-81D998DD985E}" type="datetimeFigureOut">
              <a:rPr lang="zh-CN" altLang="en-US" smtClean="0"/>
              <a:t>2025/12/30</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E28FB6AE-A920-45E1-BE2B-B16EA081735A}"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4A3444-5F48-43F1-BBF8-CF5436DCDEC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FB6AE-A920-45E1-BE2B-B16EA081735A}"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4A3444-5F48-43F1-BBF8-CF5436DCDECA}"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106FB6CE-D9E5-49DB-A2DD-7C789EAF2261}" type="datetime1">
              <a:rPr lang="zh-CN" altLang="en-US" smtClean="0"/>
              <a:t>2025/12/30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CD7864B-25FD-4DB8-9982-CDE41666F486}" type="datetime1">
              <a:rPr lang="zh-CN" altLang="en-US" smtClean="0"/>
              <a:t>2025/12/30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6ED9BE5E-6BA8-4C94-91E1-F19206C62C55}" type="datetime1">
              <a:rPr lang="zh-CN" altLang="en-US" smtClean="0"/>
              <a:t>2025/12/30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2B66FC89-1A68-4AC1-AB8C-D66D712A555C}" type="datetime1">
              <a:rPr lang="zh-CN" altLang="en-US" smtClean="0"/>
              <a:t>2025/12/30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A8AC31E-9520-40BA-9A7B-323742B13370}" type="datetime1">
              <a:rPr lang="zh-CN" altLang="en-US" smtClean="0"/>
              <a:t>2025/12/30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25B6A9E-2757-4DDA-856D-9C1B6E4960E8}" type="datetime1">
              <a:rPr lang="zh-CN" altLang="en-US" smtClean="0"/>
              <a:t>2025/12/30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9CD73-1380-4ECF-B7DA-60D21AA08DC3}" type="datetime1">
              <a:rPr lang="zh-CN" altLang="en-US" smtClean="0"/>
              <a:t>2025/12/30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38399C90-3A50-42C0-BE25-53C985418195}" type="datetime1">
              <a:rPr lang="zh-CN" altLang="en-US" smtClean="0"/>
              <a:t>2025/12/30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EE16F826-4DAB-462B-BF88-1CB3D1AF677A}" type="datetime1">
              <a:rPr lang="zh-CN" altLang="en-US" smtClean="0"/>
              <a:t>2025/12/30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4A474F9-B3E4-4AA0-B1D9-23AEAE1DAE5F}" type="datetime1">
              <a:rPr lang="zh-CN" altLang="en-US" smtClean="0"/>
              <a:t>2025/12/30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F0757CF-EFB1-408B-8CD3-27F8DC61A383}" type="datetime1">
              <a:rPr lang="zh-CN" altLang="en-US" smtClean="0"/>
              <a:t>2025/12/30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9928B5-018B-4CA9-9C87-DBEBF33874F0}" type="datetime1">
              <a:rPr lang="zh-CN" altLang="en-US" smtClean="0"/>
              <a:t>2025/12/30</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3"/>
          <p:cNvSpPr txBox="1"/>
          <p:nvPr/>
        </p:nvSpPr>
        <p:spPr>
          <a:xfrm>
            <a:off x="0" y="1472866"/>
            <a:ext cx="12192000" cy="1956134"/>
          </a:xfrm>
          <a:prstGeom prst="rect">
            <a:avLst/>
          </a:prstGeom>
          <a:solidFill>
            <a:srgbClr val="1639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R="0" lvl="0" indent="0" algn="ctr" fontAlgn="auto">
              <a:spcBef>
                <a:spcPts val="0"/>
              </a:spcBef>
              <a:spcAft>
                <a:spcPts val="0"/>
              </a:spcAft>
              <a:buClrTx/>
              <a:buSzTx/>
              <a:buFontTx/>
              <a:buNone/>
              <a:defRPr kumimoji="0" b="0" i="0" u="none" strike="noStrike" cap="none" spc="0" normalizeH="0" baseline="0">
                <a:ln>
                  <a:noFill/>
                </a:ln>
                <a:solidFill>
                  <a:schemeClr val="lt1"/>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p>
        </p:txBody>
      </p:sp>
      <p:sp>
        <p:nvSpPr>
          <p:cNvPr id="6" name="文本框 5"/>
          <p:cNvSpPr txBox="1"/>
          <p:nvPr/>
        </p:nvSpPr>
        <p:spPr>
          <a:xfrm>
            <a:off x="1378756" y="2062915"/>
            <a:ext cx="9776924" cy="830997"/>
          </a:xfrm>
          <a:prstGeom prst="rect">
            <a:avLst/>
          </a:prstGeom>
          <a:noFill/>
        </p:spPr>
        <p:txBody>
          <a:bodyPr wrap="square" rtlCol="0">
            <a:spAutoFit/>
          </a:bodyPr>
          <a:lstStyle/>
          <a:p>
            <a:pPr algn="ctr">
              <a:spcBef>
                <a:spcPts val="450"/>
              </a:spcBef>
              <a:spcAft>
                <a:spcPts val="450"/>
              </a:spcAft>
            </a:pPr>
            <a:r>
              <a:rPr lang="zh-CN" altLang="en-US" sz="48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48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48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48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grpSp>
        <p:nvGrpSpPr>
          <p:cNvPr id="8" name="组合 7"/>
          <p:cNvGrpSpPr/>
          <p:nvPr/>
        </p:nvGrpSpPr>
        <p:grpSpPr>
          <a:xfrm>
            <a:off x="-607" y="5607816"/>
            <a:ext cx="12192607" cy="1299698"/>
            <a:chOff x="-607" y="5607816"/>
            <a:chExt cx="12192607" cy="1299698"/>
          </a:xfrm>
        </p:grpSpPr>
        <p:sp>
          <p:nvSpPr>
            <p:cNvPr id="9" name="文本框 8"/>
            <p:cNvSpPr txBox="1"/>
            <p:nvPr/>
          </p:nvSpPr>
          <p:spPr>
            <a:xfrm>
              <a:off x="2989872" y="6538182"/>
              <a:ext cx="2358386" cy="369332"/>
            </a:xfrm>
            <a:prstGeom prst="rect">
              <a:avLst/>
            </a:prstGeom>
            <a:noFill/>
          </p:spPr>
          <p:txBody>
            <a:bodyPr wrap="square" rtlCol="0">
              <a:spAutoFit/>
            </a:bodyPr>
            <a:lstStyle/>
            <a:p>
              <a:pPr algn="ctr"/>
              <a:r>
                <a:rPr lang="en-US" altLang="zh-CN" sz="900" dirty="0">
                  <a:solidFill>
                    <a:schemeClr val="bg1"/>
                  </a:solidFill>
                  <a:latin typeface="Microsoft New Tai Lue" panose="020B0502040204020203" pitchFamily="34" charset="0"/>
                  <a:cs typeface="Microsoft New Tai Lue" panose="020B0502040204020203" pitchFamily="34" charset="0"/>
                </a:rPr>
                <a:t>Copyright © 2018, IIAU-Lab, DLUT.</a:t>
              </a:r>
            </a:p>
            <a:p>
              <a:pPr algn="ctr"/>
              <a:r>
                <a:rPr lang="en-US" altLang="zh-CN" sz="900" dirty="0">
                  <a:solidFill>
                    <a:schemeClr val="bg1"/>
                  </a:solidFill>
                  <a:latin typeface="Microsoft New Tai Lue" panose="020B0502040204020203" pitchFamily="34" charset="0"/>
                  <a:cs typeface="Microsoft New Tai Lue" panose="020B0502040204020203" pitchFamily="34" charset="0"/>
                </a:rPr>
                <a:t>All rights reserved.</a:t>
              </a:r>
              <a:endParaRPr lang="zh-CN" altLang="en-US" sz="900" dirty="0">
                <a:solidFill>
                  <a:schemeClr val="bg1"/>
                </a:solidFill>
                <a:latin typeface="Microsoft New Tai Lue" panose="020B0502040204020203" pitchFamily="34" charset="0"/>
                <a:cs typeface="Microsoft New Tai Lue" panose="020B0502040204020203" pitchFamily="34" charset="0"/>
              </a:endParaRPr>
            </a:p>
          </p:txBody>
        </p:sp>
        <p:pic>
          <p:nvPicPr>
            <p:cNvPr id="25" name="图片 24"/>
            <p:cNvPicPr>
              <a:picLocks noChangeAspect="1"/>
            </p:cNvPicPr>
            <p:nvPr/>
          </p:nvPicPr>
          <p:blipFill rotWithShape="1">
            <a:blip r:embed="rId3"/>
            <a:srcRect t="4775"/>
            <a:stretch>
              <a:fillRect/>
            </a:stretch>
          </p:blipFill>
          <p:spPr>
            <a:xfrm>
              <a:off x="4055936" y="5607817"/>
              <a:ext cx="2074690" cy="1299697"/>
            </a:xfrm>
            <a:prstGeom prst="rect">
              <a:avLst/>
            </a:prstGeom>
          </p:spPr>
        </p:pic>
        <p:pic>
          <p:nvPicPr>
            <p:cNvPr id="30" name="图片 4"/>
            <p:cNvPicPr>
              <a:picLocks noChangeAspect="1"/>
            </p:cNvPicPr>
            <p:nvPr/>
          </p:nvPicPr>
          <p:blipFill>
            <a:blip r:embed="rId4"/>
            <a:stretch>
              <a:fillRect/>
            </a:stretch>
          </p:blipFill>
          <p:spPr>
            <a:xfrm>
              <a:off x="2078260" y="5611569"/>
              <a:ext cx="1982984" cy="1295945"/>
            </a:xfrm>
            <a:prstGeom prst="rect">
              <a:avLst/>
            </a:prstGeom>
            <a:noFill/>
            <a:ln w="9525">
              <a:noFill/>
            </a:ln>
          </p:spPr>
        </p:pic>
        <p:pic>
          <p:nvPicPr>
            <p:cNvPr id="32" name="图片 31"/>
            <p:cNvPicPr>
              <a:picLocks noChangeAspect="1"/>
            </p:cNvPicPr>
            <p:nvPr/>
          </p:nvPicPr>
          <p:blipFill>
            <a:blip r:embed="rId5"/>
            <a:stretch>
              <a:fillRect/>
            </a:stretch>
          </p:blipFill>
          <p:spPr>
            <a:xfrm>
              <a:off x="-607" y="5610686"/>
              <a:ext cx="2045137" cy="1286635"/>
            </a:xfrm>
            <a:prstGeom prst="rect">
              <a:avLst/>
            </a:prstGeom>
          </p:spPr>
        </p:pic>
        <p:pic>
          <p:nvPicPr>
            <p:cNvPr id="22" name="图片 12" descr="微甬江职高效果图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3579" y="5614563"/>
              <a:ext cx="2056786" cy="129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7"/>
            <a:stretch>
              <a:fillRect/>
            </a:stretch>
          </p:blipFill>
          <p:spPr>
            <a:xfrm>
              <a:off x="8180301" y="5614562"/>
              <a:ext cx="2055202" cy="1286259"/>
            </a:xfrm>
            <a:prstGeom prst="rect">
              <a:avLst/>
            </a:prstGeom>
          </p:spPr>
        </p:pic>
        <p:pic>
          <p:nvPicPr>
            <p:cNvPr id="7" name="图片 6"/>
            <p:cNvPicPr>
              <a:picLocks noChangeAspect="1"/>
            </p:cNvPicPr>
            <p:nvPr/>
          </p:nvPicPr>
          <p:blipFill>
            <a:blip r:embed="rId8"/>
            <a:stretch>
              <a:fillRect/>
            </a:stretch>
          </p:blipFill>
          <p:spPr>
            <a:xfrm>
              <a:off x="10235503" y="5611064"/>
              <a:ext cx="1956497" cy="1286258"/>
            </a:xfrm>
            <a:prstGeom prst="rect">
              <a:avLst/>
            </a:prstGeom>
          </p:spPr>
        </p:pic>
        <p:pic>
          <p:nvPicPr>
            <p:cNvPr id="2" name="图片 1"/>
            <p:cNvPicPr>
              <a:picLocks noChangeAspect="1"/>
            </p:cNvPicPr>
            <p:nvPr/>
          </p:nvPicPr>
          <p:blipFill>
            <a:blip r:embed="rId9"/>
            <a:stretch>
              <a:fillRect/>
            </a:stretch>
          </p:blipFill>
          <p:spPr>
            <a:xfrm>
              <a:off x="2005048" y="5607816"/>
              <a:ext cx="2052101" cy="1299697"/>
            </a:xfrm>
            <a:prstGeom prst="rect">
              <a:avLst/>
            </a:prstGeom>
          </p:spPr>
        </p:pic>
      </p:grpSp>
      <p:sp>
        <p:nvSpPr>
          <p:cNvPr id="10" name="文本框 9"/>
          <p:cNvSpPr txBox="1"/>
          <p:nvPr/>
        </p:nvSpPr>
        <p:spPr>
          <a:xfrm>
            <a:off x="1151800" y="320524"/>
            <a:ext cx="9193094" cy="769441"/>
          </a:xfrm>
          <a:prstGeom prst="rect">
            <a:avLst/>
          </a:prstGeom>
          <a:noFill/>
        </p:spPr>
        <p:txBody>
          <a:bodyPr wrap="none" rtlCol="0">
            <a:spAutoFit/>
          </a:bodyPr>
          <a:lstStyle/>
          <a:p>
            <a:r>
              <a:rPr lang="en-US" altLang="zh-CN" sz="4400" b="1" dirty="0">
                <a:solidFill>
                  <a:srgbClr val="1286AD"/>
                </a:solidFill>
                <a:latin typeface="微软雅黑" panose="020B0503020204020204" pitchFamily="34" charset="-122"/>
                <a:ea typeface="微软雅黑" panose="020B0503020204020204" pitchFamily="34" charset="-122"/>
              </a:rPr>
              <a:t>Dalian</a:t>
            </a:r>
            <a:r>
              <a:rPr lang="zh-CN" altLang="en-US" sz="4400" b="1" dirty="0">
                <a:solidFill>
                  <a:srgbClr val="1286AD"/>
                </a:solidFill>
                <a:latin typeface="微软雅黑" panose="020B0503020204020204" pitchFamily="34" charset="-122"/>
                <a:ea typeface="微软雅黑" panose="020B0503020204020204" pitchFamily="34" charset="-122"/>
              </a:rPr>
              <a:t> </a:t>
            </a:r>
            <a:r>
              <a:rPr lang="en-US" altLang="zh-CN" sz="4400" b="1" dirty="0">
                <a:solidFill>
                  <a:srgbClr val="1286AD"/>
                </a:solidFill>
                <a:latin typeface="微软雅黑" panose="020B0503020204020204" pitchFamily="34" charset="-122"/>
                <a:ea typeface="微软雅黑" panose="020B0503020204020204" pitchFamily="34" charset="-122"/>
              </a:rPr>
              <a:t>University of Technology</a:t>
            </a:r>
            <a:endParaRPr lang="zh-CN" altLang="en-US" sz="4400" b="1" dirty="0">
              <a:solidFill>
                <a:srgbClr val="1286AD"/>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0"/>
          <a:stretch>
            <a:fillRect/>
          </a:stretch>
        </p:blipFill>
        <p:spPr>
          <a:xfrm>
            <a:off x="192910" y="195658"/>
            <a:ext cx="1066800" cy="10191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9452"/>
    </mc:Choice>
    <mc:Fallback xmlns="">
      <p:transition advTm="94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3" name="矩形 2"/>
          <p:cNvSpPr/>
          <p:nvPr/>
        </p:nvSpPr>
        <p:spPr>
          <a:xfrm>
            <a:off x="254798" y="1018743"/>
            <a:ext cx="2747460"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32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内容概要</a:t>
            </a:r>
          </a:p>
        </p:txBody>
      </p:sp>
      <p:sp>
        <p:nvSpPr>
          <p:cNvPr id="4" name="Text Box 2"/>
          <p:cNvSpPr txBox="1">
            <a:spLocks noChangeArrowheads="1"/>
          </p:cNvSpPr>
          <p:nvPr/>
        </p:nvSpPr>
        <p:spPr bwMode="auto">
          <a:xfrm>
            <a:off x="3265402" y="2418877"/>
            <a:ext cx="5744930" cy="2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50000"/>
              </a:spcBef>
              <a:buNone/>
            </a:pPr>
            <a:r>
              <a:rPr lang="zh-CN" altLang="ja-JP" b="1" dirty="0">
                <a:solidFill>
                  <a:srgbClr val="012060"/>
                </a:solidFill>
                <a:latin typeface="微软雅黑" panose="020B0503020204020204" pitchFamily="34" charset="-122"/>
                <a:ea typeface="微软雅黑" panose="020B0503020204020204" pitchFamily="34" charset="-122"/>
                <a:cs typeface="Arial Unicode MS" panose="020B0604020202020204" pitchFamily="34" charset="-122"/>
              </a:rPr>
              <a:t>一、</a:t>
            </a:r>
            <a:r>
              <a:rPr lang="zh-CN" altLang="en-US" b="1" dirty="0">
                <a:solidFill>
                  <a:srgbClr val="012060"/>
                </a:solidFill>
                <a:latin typeface="微软雅黑" panose="020B0503020204020204" pitchFamily="34" charset="-122"/>
                <a:ea typeface="微软雅黑" panose="020B0503020204020204" pitchFamily="34" charset="-122"/>
                <a:cs typeface="Arial Unicode MS" panose="020B0604020202020204" pitchFamily="34" charset="-122"/>
                <a:sym typeface="+mn-ea"/>
              </a:rPr>
              <a:t>适用场景</a:t>
            </a:r>
            <a:endParaRPr lang="zh-CN" altLang="en-US" dirty="0">
              <a:solidFill>
                <a:srgbClr val="012060"/>
              </a:solidFill>
              <a:latin typeface="微软雅黑" panose="020B0503020204020204" pitchFamily="34" charset="-122"/>
              <a:ea typeface="微软雅黑" panose="020B0503020204020204" pitchFamily="34" charset="-122"/>
              <a:cs typeface="Arial Unicode MS" panose="020B0604020202020204" pitchFamily="34" charset="-122"/>
            </a:endParaRPr>
          </a:p>
          <a:p>
            <a:pPr indent="0">
              <a:lnSpc>
                <a:spcPct val="130000"/>
              </a:lnSpc>
              <a:spcBef>
                <a:spcPct val="50000"/>
              </a:spcBef>
              <a:buNone/>
            </a:pPr>
            <a:r>
              <a:rPr lang="zh-CN" altLang="ja-JP" b="1" dirty="0">
                <a:solidFill>
                  <a:srgbClr val="012060"/>
                </a:solidFill>
                <a:latin typeface="微软雅黑" panose="020B0503020204020204" pitchFamily="34" charset="-122"/>
                <a:ea typeface="微软雅黑" panose="020B0503020204020204" pitchFamily="34" charset="-122"/>
                <a:cs typeface="Arial Unicode MS" panose="020B0604020202020204" pitchFamily="34" charset="-122"/>
              </a:rPr>
              <a:t>二、</a:t>
            </a:r>
            <a:r>
              <a:rPr lang="zh-CN" altLang="en-US" b="1" dirty="0">
                <a:solidFill>
                  <a:srgbClr val="012060"/>
                </a:solidFill>
                <a:latin typeface="微软雅黑" panose="020B0503020204020204" pitchFamily="34" charset="-122"/>
                <a:ea typeface="微软雅黑" panose="020B0503020204020204" pitchFamily="34" charset="-122"/>
                <a:cs typeface="Arial Unicode MS" panose="020B0604020202020204" pitchFamily="34" charset="-122"/>
              </a:rPr>
              <a:t>实操技巧与示例</a:t>
            </a:r>
            <a:endParaRPr lang="en-US" altLang="zh-CN" b="1" dirty="0">
              <a:solidFill>
                <a:srgbClr val="012060"/>
              </a:solidFill>
              <a:latin typeface="微软雅黑" panose="020B0503020204020204" pitchFamily="34" charset="-122"/>
              <a:ea typeface="微软雅黑" panose="020B0503020204020204" pitchFamily="34" charset="-122"/>
              <a:cs typeface="Arial Unicode MS" panose="020B0604020202020204" pitchFamily="34" charset="-122"/>
            </a:endParaRPr>
          </a:p>
          <a:p>
            <a:pPr indent="0">
              <a:lnSpc>
                <a:spcPct val="130000"/>
              </a:lnSpc>
              <a:spcBef>
                <a:spcPct val="50000"/>
              </a:spcBef>
              <a:buNone/>
            </a:pPr>
            <a:r>
              <a:rPr lang="zh-CN" altLang="en-US" b="1" dirty="0">
                <a:solidFill>
                  <a:srgbClr val="012060"/>
                </a:solidFill>
                <a:latin typeface="微软雅黑" panose="020B0503020204020204" pitchFamily="34" charset="-122"/>
                <a:ea typeface="微软雅黑" panose="020B0503020204020204" pitchFamily="34" charset="-122"/>
                <a:cs typeface="Arial Unicode MS" panose="020B0604020202020204" pitchFamily="34" charset="-122"/>
              </a:rPr>
              <a:t>三、注意事项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89452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en-US" altLang="zh-CN"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AI</a:t>
            </a: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辅助编程的主要适用场景</a:t>
            </a:r>
          </a:p>
        </p:txBody>
      </p:sp>
      <p:sp>
        <p:nvSpPr>
          <p:cNvPr id="3" name="文本框 2"/>
          <p:cNvSpPr txBox="1"/>
          <p:nvPr/>
        </p:nvSpPr>
        <p:spPr>
          <a:xfrm>
            <a:off x="3243617" y="2305615"/>
            <a:ext cx="5977919" cy="3046988"/>
          </a:xfrm>
          <a:prstGeom prst="rect">
            <a:avLst/>
          </a:prstGeom>
          <a:noFill/>
        </p:spPr>
        <p:txBody>
          <a:bodyPr wrap="none" rtlCol="0">
            <a:spAutoFit/>
          </a:bodyPr>
          <a:lstStyle/>
          <a:p>
            <a:pPr algn="l"/>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已经编写好的程序</a:t>
            </a:r>
            <a:r>
              <a:rPr lang="en-US" altLang="zh-CN" sz="2400" dirty="0">
                <a:latin typeface="微软雅黑" panose="020B0503020204020204" pitchFamily="34" charset="-122"/>
                <a:ea typeface="微软雅黑" panose="020B0503020204020204" pitchFamily="34" charset="-122"/>
              </a:rPr>
              <a:t>Debug</a:t>
            </a:r>
          </a:p>
          <a:p>
            <a:pPr algn="l"/>
            <a:endParaRPr lang="en-US" altLang="zh-CN" sz="2400" dirty="0">
              <a:latin typeface="微软雅黑" panose="020B0503020204020204" pitchFamily="34" charset="-122"/>
              <a:ea typeface="微软雅黑" panose="020B0503020204020204" pitchFamily="34" charset="-122"/>
            </a:endParaRPr>
          </a:p>
          <a:p>
            <a:pPr algn="l"/>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日常高重复性工作让</a:t>
            </a:r>
            <a:r>
              <a:rPr lang="en-US" altLang="zh-CN" sz="2400" dirty="0">
                <a:latin typeface="微软雅黑" panose="020B0503020204020204" pitchFamily="34" charset="-122"/>
                <a:ea typeface="微软雅黑" panose="020B0503020204020204" pitchFamily="34" charset="-122"/>
              </a:rPr>
              <a:t>AI</a:t>
            </a:r>
            <a:r>
              <a:rPr lang="zh-CN" altLang="en-US" sz="2400" dirty="0">
                <a:latin typeface="微软雅黑" panose="020B0503020204020204" pitchFamily="34" charset="-122"/>
                <a:ea typeface="微软雅黑" panose="020B0503020204020204" pitchFamily="34" charset="-122"/>
              </a:rPr>
              <a:t>编写脚本辅助完成</a:t>
            </a:r>
            <a:endParaRPr lang="en-US" altLang="zh-CN" sz="2400" dirty="0">
              <a:latin typeface="微软雅黑" panose="020B0503020204020204" pitchFamily="34" charset="-122"/>
              <a:ea typeface="微软雅黑" panose="020B0503020204020204" pitchFamily="34" charset="-122"/>
            </a:endParaRPr>
          </a:p>
          <a:p>
            <a:pPr algn="l"/>
            <a:endParaRPr lang="en-US" altLang="zh-CN" sz="2400" dirty="0">
              <a:latin typeface="微软雅黑" panose="020B0503020204020204" pitchFamily="34" charset="-122"/>
              <a:ea typeface="微软雅黑" panose="020B0503020204020204" pitchFamily="34" charset="-122"/>
            </a:endParaRPr>
          </a:p>
          <a:p>
            <a:pPr algn="l"/>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辅助理解网上下载的开源代码</a:t>
            </a:r>
            <a:endParaRPr lang="en-US" altLang="zh-CN" sz="2400" dirty="0">
              <a:latin typeface="微软雅黑" panose="020B0503020204020204" pitchFamily="34" charset="-122"/>
              <a:ea typeface="微软雅黑" panose="020B0503020204020204" pitchFamily="34" charset="-122"/>
            </a:endParaRPr>
          </a:p>
          <a:p>
            <a:pPr algn="l"/>
            <a:endParaRPr lang="en-US" altLang="zh-CN" sz="2400" dirty="0">
              <a:latin typeface="微软雅黑" panose="020B0503020204020204" pitchFamily="34" charset="-122"/>
              <a:ea typeface="微软雅黑" panose="020B0503020204020204" pitchFamily="34" charset="-122"/>
            </a:endParaRPr>
          </a:p>
          <a:p>
            <a:pPr algn="l"/>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根据现有需求使用</a:t>
            </a:r>
            <a:r>
              <a:rPr lang="en-US" altLang="zh-CN" sz="2400" dirty="0">
                <a:latin typeface="微软雅黑" panose="020B0503020204020204" pitchFamily="34" charset="-122"/>
                <a:ea typeface="微软雅黑" panose="020B0503020204020204" pitchFamily="34" charset="-122"/>
              </a:rPr>
              <a:t>AI</a:t>
            </a:r>
            <a:r>
              <a:rPr lang="zh-CN" altLang="en-US" sz="2400" dirty="0">
                <a:latin typeface="微软雅黑" panose="020B0503020204020204" pitchFamily="34" charset="-122"/>
                <a:ea typeface="微软雅黑" panose="020B0503020204020204" pitchFamily="34" charset="-122"/>
              </a:rPr>
              <a:t>辅助完成项目</a:t>
            </a:r>
            <a:endParaRPr lang="en-US" altLang="zh-CN" sz="2400" dirty="0">
              <a:latin typeface="微软雅黑" panose="020B0503020204020204" pitchFamily="34" charset="-122"/>
              <a:ea typeface="微软雅黑" panose="020B0503020204020204" pitchFamily="34" charset="-122"/>
            </a:endParaRPr>
          </a:p>
          <a:p>
            <a:pPr algn="l"/>
            <a:r>
              <a:rPr lang="en-US" altLang="zh-CN" sz="2400" dirty="0">
                <a:latin typeface="微软雅黑" panose="020B0503020204020204" pitchFamily="34" charset="-122"/>
                <a:ea typeface="微软雅黑" panose="020B0503020204020204" pitchFamily="34" charset="-122"/>
              </a:rPr>
              <a:t>·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准备工作</a:t>
            </a:r>
          </a:p>
        </p:txBody>
      </p:sp>
      <p:sp>
        <p:nvSpPr>
          <p:cNvPr id="3" name="文本框 2"/>
          <p:cNvSpPr txBox="1"/>
          <p:nvPr/>
        </p:nvSpPr>
        <p:spPr>
          <a:xfrm>
            <a:off x="2117632" y="2268071"/>
            <a:ext cx="7956734" cy="3046988"/>
          </a:xfrm>
          <a:prstGeom prst="rect">
            <a:avLst/>
          </a:prstGeom>
          <a:noFill/>
        </p:spPr>
        <p:txBody>
          <a:bodyPr wrap="square" rtlCol="0">
            <a:spAutoFit/>
          </a:bodyPr>
          <a:lstStyle/>
          <a:p>
            <a:pPr algn="l"/>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掌握基础知识</a:t>
            </a:r>
            <a:endParaRPr lang="en-US" altLang="zh-CN" sz="2400" dirty="0">
              <a:latin typeface="微软雅黑" panose="020B0503020204020204" pitchFamily="34" charset="-122"/>
              <a:ea typeface="微软雅黑" panose="020B0503020204020204" pitchFamily="34" charset="-122"/>
            </a:endParaRPr>
          </a:p>
          <a:p>
            <a:pPr algn="l"/>
            <a:endParaRPr lang="en-US" altLang="zh-CN" sz="2400" dirty="0">
              <a:latin typeface="微软雅黑" panose="020B0503020204020204" pitchFamily="34" charset="-122"/>
              <a:ea typeface="微软雅黑" panose="020B0503020204020204" pitchFamily="34" charset="-122"/>
            </a:endParaRPr>
          </a:p>
          <a:p>
            <a:pPr algn="l"/>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明确任务要求：</a:t>
            </a:r>
            <a:endParaRPr lang="en-US" altLang="zh-CN" sz="2400" dirty="0">
              <a:latin typeface="微软雅黑" panose="020B0503020204020204" pitchFamily="34" charset="-122"/>
              <a:ea typeface="微软雅黑" panose="020B0503020204020204" pitchFamily="34" charset="-122"/>
            </a:endParaRPr>
          </a:p>
          <a:p>
            <a:pPr algn="l"/>
            <a:r>
              <a:rPr lang="zh-CN" altLang="en-US" sz="2400" dirty="0">
                <a:latin typeface="微软雅黑" panose="020B0503020204020204" pitchFamily="34" charset="-122"/>
                <a:ea typeface="微软雅黑" panose="020B0503020204020204" pitchFamily="34" charset="-122"/>
              </a:rPr>
              <a:t>将具体的需求详细罗列出来，以便后续告诉 </a:t>
            </a:r>
            <a:r>
              <a:rPr lang="en-US" altLang="zh-CN" sz="2400" dirty="0">
                <a:latin typeface="微软雅黑" panose="020B0503020204020204" pitchFamily="34" charset="-122"/>
                <a:ea typeface="微软雅黑" panose="020B0503020204020204" pitchFamily="34" charset="-122"/>
              </a:rPr>
              <a:t>AI </a:t>
            </a:r>
            <a:r>
              <a:rPr lang="zh-CN" altLang="en-US" sz="2400" dirty="0">
                <a:latin typeface="微软雅黑" panose="020B0503020204020204" pitchFamily="34" charset="-122"/>
                <a:ea typeface="微软雅黑" panose="020B0503020204020204" pitchFamily="34" charset="-122"/>
              </a:rPr>
              <a:t>我们期望实现的各个功能模块是什么样子的。</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可参考</a:t>
            </a:r>
            <a:r>
              <a:rPr lang="en-US" altLang="zh-CN" sz="2400" dirty="0">
                <a:solidFill>
                  <a:srgbClr val="FE0000"/>
                </a:solidFill>
                <a:latin typeface="微软雅黑" panose="020B0503020204020204" pitchFamily="34" charset="-122"/>
                <a:ea typeface="微软雅黑" panose="020B0503020204020204" pitchFamily="34" charset="-122"/>
              </a:rPr>
              <a:t>CO-STAR</a:t>
            </a:r>
            <a:r>
              <a:rPr lang="zh-CN" altLang="en-US" sz="2400" dirty="0">
                <a:latin typeface="微软雅黑" panose="020B0503020204020204" pitchFamily="34" charset="-122"/>
                <a:ea typeface="微软雅黑" panose="020B0503020204020204" pitchFamily="34" charset="-122"/>
              </a:rPr>
              <a:t>框架：</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Context</a:t>
            </a:r>
            <a:r>
              <a:rPr lang="zh-CN" altLang="en-US" sz="2400" dirty="0">
                <a:latin typeface="微软雅黑" panose="020B0503020204020204" pitchFamily="34" charset="-122"/>
                <a:ea typeface="微软雅黑" panose="020B0503020204020204" pitchFamily="34" charset="-122"/>
              </a:rPr>
              <a:t>（背景）、</a:t>
            </a:r>
            <a:r>
              <a:rPr lang="en-US" altLang="zh-CN" sz="2400" dirty="0">
                <a:latin typeface="微软雅黑" panose="020B0503020204020204" pitchFamily="34" charset="-122"/>
                <a:ea typeface="微软雅黑" panose="020B0503020204020204" pitchFamily="34" charset="-122"/>
              </a:rPr>
              <a:t>Objective</a:t>
            </a:r>
            <a:r>
              <a:rPr lang="zh-CN" altLang="en-US" sz="2400" dirty="0">
                <a:latin typeface="微软雅黑" panose="020B0503020204020204" pitchFamily="34" charset="-122"/>
                <a:ea typeface="微软雅黑" panose="020B0503020204020204" pitchFamily="34" charset="-122"/>
              </a:rPr>
              <a:t>（目标）、</a:t>
            </a:r>
            <a:r>
              <a:rPr lang="en-US" altLang="zh-CN" sz="2400" dirty="0">
                <a:latin typeface="微软雅黑" panose="020B0503020204020204" pitchFamily="34" charset="-122"/>
                <a:ea typeface="微软雅黑" panose="020B0503020204020204" pitchFamily="34" charset="-122"/>
              </a:rPr>
              <a:t>Style</a:t>
            </a:r>
            <a:r>
              <a:rPr lang="zh-CN" altLang="en-US" sz="2400" dirty="0">
                <a:latin typeface="微软雅黑" panose="020B0503020204020204" pitchFamily="34" charset="-122"/>
                <a:ea typeface="微软雅黑" panose="020B0503020204020204" pitchFamily="34" charset="-122"/>
              </a:rPr>
              <a:t>（风格）、</a:t>
            </a:r>
            <a:r>
              <a:rPr lang="en-US" altLang="zh-CN" sz="2400" dirty="0">
                <a:latin typeface="微软雅黑" panose="020B0503020204020204" pitchFamily="34" charset="-122"/>
                <a:ea typeface="微软雅黑" panose="020B0503020204020204" pitchFamily="34" charset="-122"/>
              </a:rPr>
              <a:t>Tone</a:t>
            </a:r>
            <a:r>
              <a:rPr lang="zh-CN" altLang="en-US" sz="2400" dirty="0">
                <a:latin typeface="微软雅黑" panose="020B0503020204020204" pitchFamily="34" charset="-122"/>
                <a:ea typeface="微软雅黑" panose="020B0503020204020204" pitchFamily="34" charset="-122"/>
              </a:rPr>
              <a:t>（语调）、</a:t>
            </a:r>
            <a:r>
              <a:rPr lang="en-US" altLang="zh-CN" sz="2400" dirty="0">
                <a:latin typeface="微软雅黑" panose="020B0503020204020204" pitchFamily="34" charset="-122"/>
                <a:ea typeface="微软雅黑" panose="020B0503020204020204" pitchFamily="34" charset="-122"/>
              </a:rPr>
              <a:t>Audience</a:t>
            </a:r>
            <a:r>
              <a:rPr lang="zh-CN" altLang="en-US" sz="2400" dirty="0">
                <a:latin typeface="微软雅黑" panose="020B0503020204020204" pitchFamily="34" charset="-122"/>
                <a:ea typeface="微软雅黑" panose="020B0503020204020204" pitchFamily="34" charset="-122"/>
              </a:rPr>
              <a:t>（受众）、</a:t>
            </a:r>
            <a:r>
              <a:rPr lang="en-US" altLang="zh-CN" sz="2400" dirty="0">
                <a:latin typeface="微软雅黑" panose="020B0503020204020204" pitchFamily="34" charset="-122"/>
                <a:ea typeface="微软雅黑" panose="020B0503020204020204" pitchFamily="34" charset="-122"/>
              </a:rPr>
              <a:t>Response</a:t>
            </a:r>
            <a:r>
              <a:rPr lang="zh-CN" altLang="en-US" sz="2400" dirty="0">
                <a:latin typeface="微软雅黑" panose="020B0503020204020204" pitchFamily="34" charset="-122"/>
                <a:ea typeface="微软雅黑" panose="020B0503020204020204" pitchFamily="34" charset="-122"/>
              </a:rPr>
              <a:t>（回应）</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实操技巧</a:t>
            </a:r>
          </a:p>
        </p:txBody>
      </p:sp>
      <p:sp>
        <p:nvSpPr>
          <p:cNvPr id="3" name="文本框 2"/>
          <p:cNvSpPr txBox="1"/>
          <p:nvPr/>
        </p:nvSpPr>
        <p:spPr>
          <a:xfrm>
            <a:off x="1871980" y="1867535"/>
            <a:ext cx="8532495" cy="3784600"/>
          </a:xfrm>
          <a:prstGeom prst="rect">
            <a:avLst/>
          </a:prstGeom>
          <a:noFill/>
        </p:spPr>
        <p:txBody>
          <a:bodyPr wrap="square" rtlCol="0">
            <a:spAutoFit/>
          </a:bodyPr>
          <a:lstStyle/>
          <a:p>
            <a:pPr algn="l"/>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提问要精准</a:t>
            </a:r>
            <a:endParaRPr lang="en-US" altLang="zh-CN" sz="2000" b="1" dirty="0">
              <a:latin typeface="微软雅黑" panose="020B0503020204020204" pitchFamily="34" charset="-122"/>
              <a:ea typeface="微软雅黑" panose="020B0503020204020204" pitchFamily="34" charset="-122"/>
            </a:endParaRPr>
          </a:p>
          <a:p>
            <a:pPr algn="l"/>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a:solidFill>
                  <a:srgbClr val="0070C0"/>
                </a:solidFill>
                <a:latin typeface="微软雅黑" panose="020B0503020204020204" pitchFamily="34" charset="-122"/>
                <a:ea typeface="微软雅黑" panose="020B0503020204020204" pitchFamily="34" charset="-122"/>
              </a:rPr>
              <a:t>1</a:t>
            </a:r>
            <a:r>
              <a:rPr lang="zh-CN" altLang="en-US" sz="2000" dirty="0">
                <a:solidFill>
                  <a:srgbClr val="0070C0"/>
                </a:solidFill>
                <a:latin typeface="微软雅黑" panose="020B0503020204020204" pitchFamily="34" charset="-122"/>
                <a:ea typeface="微软雅黑" panose="020B0503020204020204" pitchFamily="34" charset="-122"/>
              </a:rPr>
              <a:t>）清晰定义关键词，尤其是那些存在模糊或具有多重含义的词汇</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gn="l"/>
            <a:r>
              <a:rPr lang="zh-CN" altLang="en-US" sz="2000" dirty="0">
                <a:latin typeface="微软雅黑" panose="020B0503020204020204" pitchFamily="34" charset="-122"/>
                <a:ea typeface="微软雅黑" panose="020B0503020204020204" pitchFamily="34" charset="-122"/>
              </a:rPr>
              <a:t>例：“将商品列表中的物品按照单位价格进行降序排序”</a:t>
            </a:r>
          </a:p>
          <a:p>
            <a:pPr algn="l"/>
            <a:endParaRPr lang="en-US" altLang="zh-CN" sz="2000" dirty="0">
              <a:latin typeface="微软雅黑" panose="020B0503020204020204" pitchFamily="34" charset="-122"/>
              <a:ea typeface="微软雅黑" panose="020B0503020204020204" pitchFamily="34" charset="-122"/>
            </a:endParaRPr>
          </a:p>
          <a:p>
            <a:pPr algn="l"/>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a:solidFill>
                  <a:srgbClr val="0070C0"/>
                </a:solidFill>
                <a:latin typeface="微软雅黑" panose="020B0503020204020204" pitchFamily="34" charset="-122"/>
                <a:ea typeface="微软雅黑" panose="020B0503020204020204" pitchFamily="34" charset="-122"/>
              </a:rPr>
              <a:t>2</a:t>
            </a:r>
            <a:r>
              <a:rPr lang="zh-CN" altLang="en-US" sz="2000" dirty="0">
                <a:solidFill>
                  <a:srgbClr val="0070C0"/>
                </a:solidFill>
                <a:latin typeface="微软雅黑" panose="020B0503020204020204" pitchFamily="34" charset="-122"/>
                <a:ea typeface="微软雅黑" panose="020B0503020204020204" pitchFamily="34" charset="-122"/>
              </a:rPr>
              <a:t>）提供充足的背景信息。</a:t>
            </a:r>
            <a:endParaRPr lang="en-US" altLang="zh-CN" sz="2000" dirty="0">
              <a:solidFill>
                <a:srgbClr val="0070C0"/>
              </a:solidFill>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例：“在仓库管理项目中，针对不同物品的存储要求，需要创建常温区、低温区和冷冻区”</a:t>
            </a:r>
          </a:p>
          <a:p>
            <a:endParaRPr lang="en-US" altLang="zh-CN" sz="2000" dirty="0">
              <a:latin typeface="微软雅黑" panose="020B0503020204020204" pitchFamily="34" charset="-122"/>
              <a:ea typeface="微软雅黑" panose="020B0503020204020204" pitchFamily="34" charset="-122"/>
            </a:endParaRPr>
          </a:p>
          <a:p>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en-US" altLang="zh-CN" sz="2000" dirty="0">
                <a:solidFill>
                  <a:srgbClr val="0070C0"/>
                </a:solidFill>
                <a:latin typeface="微软雅黑" panose="020B0503020204020204" pitchFamily="34" charset="-122"/>
                <a:ea typeface="微软雅黑" panose="020B0503020204020204" pitchFamily="34" charset="-122"/>
                <a:sym typeface="+mn-ea"/>
              </a:rPr>
              <a:t>3</a:t>
            </a:r>
            <a:r>
              <a:rPr lang="zh-CN" altLang="en-US" sz="2000" dirty="0">
                <a:solidFill>
                  <a:srgbClr val="0070C0"/>
                </a:solidFill>
                <a:latin typeface="微软雅黑" panose="020B0503020204020204" pitchFamily="34" charset="-122"/>
                <a:ea typeface="微软雅黑" panose="020B0503020204020204" pitchFamily="34" charset="-122"/>
                <a:sym typeface="+mn-ea"/>
              </a:rPr>
              <a:t>）程序</a:t>
            </a:r>
            <a:r>
              <a:rPr lang="en-US" altLang="zh-CN" sz="2000" dirty="0">
                <a:solidFill>
                  <a:srgbClr val="0070C0"/>
                </a:solidFill>
                <a:latin typeface="微软雅黑" panose="020B0503020204020204" pitchFamily="34" charset="-122"/>
                <a:ea typeface="微软雅黑" panose="020B0503020204020204" pitchFamily="34" charset="-122"/>
                <a:sym typeface="+mn-ea"/>
              </a:rPr>
              <a:t>Debug</a:t>
            </a:r>
            <a:r>
              <a:rPr lang="zh-CN" altLang="en-US" sz="2000" dirty="0">
                <a:solidFill>
                  <a:srgbClr val="0070C0"/>
                </a:solidFill>
                <a:latin typeface="微软雅黑" panose="020B0503020204020204" pitchFamily="34" charset="-122"/>
                <a:ea typeface="微软雅黑" panose="020B0503020204020204" pitchFamily="34" charset="-122"/>
                <a:sym typeface="+mn-ea"/>
              </a:rPr>
              <a:t>给出明确的题目要求和已有代码和报错。</a:t>
            </a:r>
          </a:p>
          <a:p>
            <a:r>
              <a:rPr lang="zh-CN" altLang="en-US" sz="2000" dirty="0">
                <a:latin typeface="微软雅黑" panose="020B0503020204020204" pitchFamily="34" charset="-122"/>
                <a:ea typeface="微软雅黑" panose="020B0503020204020204" pitchFamily="34" charset="-122"/>
                <a:sym typeface="+mn-ea"/>
              </a:rPr>
              <a:t>例：“针对任务</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，现有以下代码</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，我在运行此代码时出现了</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问题，为我寻找程序的问题</a:t>
            </a:r>
            <a:r>
              <a:rPr lang="en-US" altLang="zh-CN" sz="2000" dirty="0">
                <a:latin typeface="微软雅黑" panose="020B0503020204020204" pitchFamily="34" charset="-122"/>
                <a:ea typeface="微软雅黑" panose="020B0503020204020204" pitchFamily="34" charset="-122"/>
                <a:sym typeface="+mn-ea"/>
              </a:rPr>
              <a:t>“</a:t>
            </a:r>
            <a:endParaRPr lang="zh-CN" altLang="en-US" sz="2000" dirty="0">
              <a:solidFill>
                <a:srgbClr val="0070C0"/>
              </a:solidFill>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实操技巧</a:t>
            </a:r>
          </a:p>
        </p:txBody>
      </p:sp>
      <p:sp>
        <p:nvSpPr>
          <p:cNvPr id="3" name="文本框 2"/>
          <p:cNvSpPr txBox="1"/>
          <p:nvPr/>
        </p:nvSpPr>
        <p:spPr>
          <a:xfrm>
            <a:off x="1841500" y="1938655"/>
            <a:ext cx="8592820" cy="3476625"/>
          </a:xfrm>
          <a:prstGeom prst="rect">
            <a:avLst/>
          </a:prstGeom>
          <a:noFill/>
        </p:spPr>
        <p:txBody>
          <a:bodyPr wrap="squar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en-US" altLang="zh-CN" sz="2000" dirty="0">
                <a:solidFill>
                  <a:srgbClr val="0070C0"/>
                </a:solidFill>
                <a:latin typeface="微软雅黑" panose="020B0503020204020204" pitchFamily="34" charset="-122"/>
                <a:ea typeface="微软雅黑" panose="020B0503020204020204" pitchFamily="34" charset="-122"/>
                <a:sym typeface="+mn-ea"/>
              </a:rPr>
              <a:t>4</a:t>
            </a:r>
            <a:r>
              <a:rPr lang="zh-CN" altLang="en-US" sz="2000" dirty="0">
                <a:solidFill>
                  <a:srgbClr val="0070C0"/>
                </a:solidFill>
                <a:latin typeface="微软雅黑" panose="020B0503020204020204" pitchFamily="34" charset="-122"/>
                <a:ea typeface="微软雅黑" panose="020B0503020204020204" pitchFamily="34" charset="-122"/>
                <a:sym typeface="+mn-ea"/>
              </a:rPr>
              <a:t>）利用上下文和已有数据辅助提问。</a:t>
            </a:r>
            <a:endParaRPr lang="en-US" altLang="zh-CN" sz="2000" dirty="0">
              <a:solidFill>
                <a:srgbClr val="0070C0"/>
              </a:solidFill>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sym typeface="+mn-ea"/>
              </a:rPr>
              <a:t>例：“现有</a:t>
            </a:r>
            <a:r>
              <a:rPr lang="en-US" altLang="zh-CN" sz="2000" dirty="0">
                <a:latin typeface="微软雅黑" panose="020B0503020204020204" pitchFamily="34" charset="-122"/>
                <a:ea typeface="微软雅黑" panose="020B0503020204020204" pitchFamily="34" charset="-122"/>
                <a:sym typeface="+mn-ea"/>
              </a:rPr>
              <a:t>python</a:t>
            </a:r>
            <a:r>
              <a:rPr lang="zh-CN" altLang="en-US" sz="2000" dirty="0">
                <a:latin typeface="微软雅黑" panose="020B0503020204020204" pitchFamily="34" charset="-122"/>
                <a:ea typeface="微软雅黑" panose="020B0503020204020204" pitchFamily="34" charset="-122"/>
                <a:sym typeface="+mn-ea"/>
              </a:rPr>
              <a:t>代码</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用于读取</a:t>
            </a:r>
            <a:r>
              <a:rPr lang="en-US" altLang="zh-CN" sz="2000" dirty="0">
                <a:latin typeface="微软雅黑" panose="020B0503020204020204" pitchFamily="34" charset="-122"/>
                <a:ea typeface="微软雅黑" panose="020B0503020204020204" pitchFamily="34" charset="-122"/>
                <a:sym typeface="+mn-ea"/>
              </a:rPr>
              <a:t>XX.txt</a:t>
            </a:r>
            <a:r>
              <a:rPr lang="zh-CN" altLang="en-US" sz="2000" dirty="0">
                <a:latin typeface="微软雅黑" panose="020B0503020204020204" pitchFamily="34" charset="-122"/>
                <a:ea typeface="微软雅黑" panose="020B0503020204020204" pitchFamily="34" charset="-122"/>
                <a:sym typeface="+mn-ea"/>
              </a:rPr>
              <a:t>文件中以</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格式存储的</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内容，改写代码将读取到的内容以</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格式转存到</a:t>
            </a:r>
            <a:r>
              <a:rPr lang="en-US" altLang="zh-CN" sz="2000" dirty="0">
                <a:latin typeface="微软雅黑" panose="020B0503020204020204" pitchFamily="34" charset="-122"/>
                <a:ea typeface="微软雅黑" panose="020B0503020204020204" pitchFamily="34" charset="-122"/>
                <a:sym typeface="+mn-ea"/>
              </a:rPr>
              <a:t>XX.xlsx</a:t>
            </a:r>
            <a:r>
              <a:rPr lang="zh-CN" altLang="en-US" sz="2000" dirty="0">
                <a:latin typeface="微软雅黑" panose="020B0503020204020204" pitchFamily="34" charset="-122"/>
                <a:ea typeface="微软雅黑" panose="020B0503020204020204" pitchFamily="34" charset="-122"/>
                <a:sym typeface="+mn-ea"/>
              </a:rPr>
              <a:t>文件中”</a:t>
            </a:r>
          </a:p>
          <a:p>
            <a:endParaRPr lang="en-US" altLang="zh-CN" sz="2000" dirty="0">
              <a:latin typeface="微软雅黑" panose="020B0503020204020204" pitchFamily="34" charset="-122"/>
              <a:ea typeface="微软雅黑" panose="020B0503020204020204" pitchFamily="34" charset="-122"/>
            </a:endParaRPr>
          </a:p>
          <a:p>
            <a:pPr algn="l"/>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en-US" altLang="zh-CN" sz="2000" dirty="0">
                <a:solidFill>
                  <a:srgbClr val="0070C0"/>
                </a:solidFill>
                <a:latin typeface="微软雅黑" panose="020B0503020204020204" pitchFamily="34" charset="-122"/>
                <a:ea typeface="微软雅黑" panose="020B0503020204020204" pitchFamily="34" charset="-122"/>
                <a:sym typeface="+mn-ea"/>
              </a:rPr>
              <a:t>5</a:t>
            </a:r>
            <a:r>
              <a:rPr lang="zh-CN" altLang="en-US" sz="2000" dirty="0">
                <a:solidFill>
                  <a:srgbClr val="0070C0"/>
                </a:solidFill>
                <a:latin typeface="微软雅黑" panose="020B0503020204020204" pitchFamily="34" charset="-122"/>
                <a:ea typeface="微软雅黑" panose="020B0503020204020204" pitchFamily="34" charset="-122"/>
                <a:sym typeface="+mn-ea"/>
              </a:rPr>
              <a:t>）为</a:t>
            </a:r>
            <a:r>
              <a:rPr lang="en-US" altLang="zh-CN" sz="2000" dirty="0">
                <a:solidFill>
                  <a:srgbClr val="0070C0"/>
                </a:solidFill>
                <a:latin typeface="微软雅黑" panose="020B0503020204020204" pitchFamily="34" charset="-122"/>
                <a:ea typeface="微软雅黑" panose="020B0503020204020204" pitchFamily="34" charset="-122"/>
                <a:sym typeface="+mn-ea"/>
              </a:rPr>
              <a:t>AI</a:t>
            </a:r>
            <a:r>
              <a:rPr lang="zh-CN" altLang="en-US" sz="2000" dirty="0">
                <a:solidFill>
                  <a:srgbClr val="0070C0"/>
                </a:solidFill>
                <a:latin typeface="微软雅黑" panose="020B0503020204020204" pitchFamily="34" charset="-122"/>
                <a:ea typeface="微软雅黑" panose="020B0503020204020204" pitchFamily="34" charset="-122"/>
                <a:sym typeface="+mn-ea"/>
              </a:rPr>
              <a:t>指定一个角色，让</a:t>
            </a:r>
            <a:r>
              <a:rPr lang="en-US" altLang="zh-CN" sz="2000" dirty="0">
                <a:solidFill>
                  <a:srgbClr val="0070C0"/>
                </a:solidFill>
                <a:latin typeface="微软雅黑" panose="020B0503020204020204" pitchFamily="34" charset="-122"/>
                <a:ea typeface="微软雅黑" panose="020B0503020204020204" pitchFamily="34" charset="-122"/>
                <a:sym typeface="+mn-ea"/>
              </a:rPr>
              <a:t>AI</a:t>
            </a:r>
            <a:r>
              <a:rPr lang="zh-CN" altLang="en-US" sz="2000" dirty="0">
                <a:solidFill>
                  <a:srgbClr val="0070C0"/>
                </a:solidFill>
                <a:latin typeface="微软雅黑" panose="020B0503020204020204" pitchFamily="34" charset="-122"/>
                <a:ea typeface="微软雅黑" panose="020B0503020204020204" pitchFamily="34" charset="-122"/>
                <a:sym typeface="+mn-ea"/>
              </a:rPr>
              <a:t>给出更具针对性的响应。</a:t>
            </a:r>
            <a:endParaRPr lang="en-US" altLang="zh-CN" sz="2000" dirty="0">
              <a:solidFill>
                <a:srgbClr val="0070C0"/>
              </a:solidFill>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sym typeface="+mn-ea"/>
              </a:rPr>
              <a:t>例：“你是一个</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领域的答疑者，我需要你解答我关于</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latin typeface="微软雅黑" panose="020B0503020204020204" pitchFamily="34" charset="-122"/>
                <a:ea typeface="微软雅黑" panose="020B0503020204020204" pitchFamily="34" charset="-122"/>
                <a:sym typeface="+mn-ea"/>
              </a:rPr>
              <a:t>领域的一些问题”</a:t>
            </a:r>
            <a:endParaRPr lang="en-US" altLang="zh-CN" sz="2000" dirty="0">
              <a:latin typeface="微软雅黑" panose="020B0503020204020204" pitchFamily="34" charset="-122"/>
              <a:ea typeface="微软雅黑" panose="020B0503020204020204" pitchFamily="34" charset="-122"/>
            </a:endParaRPr>
          </a:p>
          <a:p>
            <a:endParaRPr lang="zh-CN" altLang="en-US" sz="2000" dirty="0">
              <a:solidFill>
                <a:srgbClr val="0070C0"/>
              </a:solidFill>
              <a:latin typeface="微软雅黑" panose="020B0503020204020204" pitchFamily="34" charset="-122"/>
              <a:ea typeface="微软雅黑" panose="020B0503020204020204" pitchFamily="34" charset="-122"/>
              <a:sym typeface="+mn-ea"/>
            </a:endParaRPr>
          </a:p>
          <a:p>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en-US" altLang="zh-CN" sz="2000" dirty="0">
                <a:solidFill>
                  <a:srgbClr val="0070C0"/>
                </a:solidFill>
                <a:latin typeface="微软雅黑" panose="020B0503020204020204" pitchFamily="34" charset="-122"/>
                <a:ea typeface="微软雅黑" panose="020B0503020204020204" pitchFamily="34" charset="-122"/>
                <a:sym typeface="+mn-ea"/>
              </a:rPr>
              <a:t>6</a:t>
            </a:r>
            <a:r>
              <a:rPr lang="zh-CN" altLang="en-US" sz="2000" dirty="0">
                <a:solidFill>
                  <a:srgbClr val="0070C0"/>
                </a:solidFill>
                <a:latin typeface="微软雅黑" panose="020B0503020204020204" pitchFamily="34" charset="-122"/>
                <a:ea typeface="微软雅黑" panose="020B0503020204020204" pitchFamily="34" charset="-122"/>
                <a:sym typeface="+mn-ea"/>
              </a:rPr>
              <a:t>）明确输出格式。</a:t>
            </a:r>
            <a:endParaRPr lang="en-US" altLang="zh-CN" sz="2000" dirty="0">
              <a:solidFill>
                <a:srgbClr val="0070C0"/>
              </a:solidFill>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sym typeface="+mn-ea"/>
              </a:rPr>
              <a:t>例：指定希望得到的代码是函数形式，还是完整的类结构，亦或是一段可直接运行的脚本等，甚至可以对代码的注释风格、变量命名规范等细节格式进行要求。</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实操技巧</a:t>
            </a:r>
          </a:p>
        </p:txBody>
      </p:sp>
      <p:sp>
        <p:nvSpPr>
          <p:cNvPr id="5" name="文本框 4"/>
          <p:cNvSpPr txBox="1"/>
          <p:nvPr/>
        </p:nvSpPr>
        <p:spPr>
          <a:xfrm>
            <a:off x="1856740" y="1944370"/>
            <a:ext cx="8562975" cy="3415030"/>
          </a:xfrm>
          <a:prstGeom prst="rect">
            <a:avLst/>
          </a:prstGeom>
          <a:noFill/>
        </p:spPr>
        <p:txBody>
          <a:bodyPr wrap="square">
            <a:spAutoFit/>
          </a:bodyPr>
          <a:lstStyle/>
          <a:p>
            <a:pPr algn="l"/>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一些小技巧：</a:t>
            </a:r>
            <a:endParaRPr lang="en-US" altLang="zh-CN" sz="2400" b="1" dirty="0">
              <a:latin typeface="微软雅黑" panose="020B0503020204020204" pitchFamily="34" charset="-122"/>
              <a:ea typeface="微软雅黑" panose="020B0503020204020204" pitchFamily="34" charset="-122"/>
            </a:endParaRPr>
          </a:p>
          <a:p>
            <a:pPr algn="l"/>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）相同的提问词新建</a:t>
            </a:r>
            <a:r>
              <a:rPr lang="en-US" altLang="zh-CN" sz="2400" dirty="0">
                <a:latin typeface="微软雅黑" panose="020B0503020204020204" pitchFamily="34" charset="-122"/>
                <a:ea typeface="微软雅黑" panose="020B0503020204020204" pitchFamily="34" charset="-122"/>
              </a:rPr>
              <a:t>2-3</a:t>
            </a:r>
            <a:r>
              <a:rPr lang="zh-CN" altLang="en-US" sz="2400" dirty="0">
                <a:latin typeface="微软雅黑" panose="020B0503020204020204" pitchFamily="34" charset="-122"/>
                <a:ea typeface="微软雅黑" panose="020B0503020204020204" pitchFamily="34" charset="-122"/>
              </a:rPr>
              <a:t>个对话提问，选择回复效果更满意的重命名做标记，并进行后续任务。删除效果不理想的。</a:t>
            </a:r>
          </a:p>
          <a:p>
            <a:pPr algn="l"/>
            <a:endParaRPr lang="en-US" altLang="zh-CN" sz="2400" dirty="0">
              <a:latin typeface="微软雅黑" panose="020B0503020204020204" pitchFamily="34" charset="-122"/>
              <a:ea typeface="微软雅黑" panose="020B0503020204020204" pitchFamily="34" charset="-122"/>
            </a:endParaRPr>
          </a:p>
          <a:p>
            <a:pPr algn="l"/>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）完善代码过程中阶段性效果理想的代码做备份，将提问词做记录，便于重新提问。</a:t>
            </a:r>
          </a:p>
          <a:p>
            <a:pPr algn="l"/>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）及时删除对话中效果不理想的聊天记录，防止负面参考，当目前对话的回复整体不理想，直接开启新对话。</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实操技巧</a:t>
            </a:r>
          </a:p>
        </p:txBody>
      </p:sp>
      <p:sp>
        <p:nvSpPr>
          <p:cNvPr id="5" name="文本框 4"/>
          <p:cNvSpPr txBox="1"/>
          <p:nvPr/>
        </p:nvSpPr>
        <p:spPr>
          <a:xfrm>
            <a:off x="3126740" y="2247265"/>
            <a:ext cx="5938520" cy="2676525"/>
          </a:xfrm>
          <a:prstGeom prst="rect">
            <a:avLst/>
          </a:prstGeom>
          <a:noFill/>
        </p:spPr>
        <p:txBody>
          <a:bodyPr wrap="square">
            <a:spAutoFit/>
          </a:bodyPr>
          <a:lstStyle/>
          <a:p>
            <a:pPr algn="l"/>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代码优化与调整：</a:t>
            </a:r>
            <a:endParaRPr lang="en-US" altLang="zh-CN" sz="2800" b="1" dirty="0">
              <a:latin typeface="微软雅黑" panose="020B0503020204020204" pitchFamily="34" charset="-122"/>
              <a:ea typeface="微软雅黑" panose="020B0503020204020204" pitchFamily="34" charset="-122"/>
            </a:endParaRPr>
          </a:p>
          <a:p>
            <a:pPr algn="l"/>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）检查逻辑结构并微调。</a:t>
            </a:r>
          </a:p>
          <a:p>
            <a:pPr algn="l"/>
            <a:endParaRPr lang="en-US" altLang="zh-CN" sz="2800" dirty="0">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）优化代码可读性，完善注释。</a:t>
            </a:r>
          </a:p>
          <a:p>
            <a:endParaRPr lang="en-US" altLang="zh-CN" sz="2800" dirty="0">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）考虑可能的非法输入问题</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实操示例</a:t>
            </a:r>
          </a:p>
        </p:txBody>
      </p:sp>
      <p:sp>
        <p:nvSpPr>
          <p:cNvPr id="3" name="文本框 2"/>
          <p:cNvSpPr txBox="1"/>
          <p:nvPr/>
        </p:nvSpPr>
        <p:spPr>
          <a:xfrm>
            <a:off x="559851" y="1382007"/>
            <a:ext cx="7406385" cy="646331"/>
          </a:xfrm>
          <a:prstGeom prst="rect">
            <a:avLst/>
          </a:prstGeom>
          <a:noFill/>
        </p:spPr>
        <p:txBody>
          <a:bodyPr wrap="square">
            <a:spAutoFit/>
          </a:bodyPr>
          <a:lstStyle/>
          <a:p>
            <a:pPr algn="l"/>
            <a:r>
              <a:rPr lang="en-US" altLang="zh-CN" sz="1800" b="1" dirty="0">
                <a:latin typeface="微软雅黑" panose="020B0503020204020204" pitchFamily="34" charset="-122"/>
                <a:ea typeface="微软雅黑" panose="020B0503020204020204" pitchFamily="34" charset="-122"/>
              </a:rPr>
              <a:t>1.</a:t>
            </a:r>
            <a:r>
              <a:rPr lang="zh-CN" altLang="en-US" sz="1800" b="1" dirty="0">
                <a:latin typeface="微软雅黑" panose="020B0503020204020204" pitchFamily="34" charset="-122"/>
                <a:ea typeface="微软雅黑" panose="020B0503020204020204" pitchFamily="34" charset="-122"/>
              </a:rPr>
              <a:t>编写脚本处理简单重复性工作：</a:t>
            </a:r>
            <a:endParaRPr lang="en-US" altLang="zh-CN" sz="1800"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链接：</a:t>
            </a:r>
            <a:r>
              <a:rPr lang="en-US" altLang="zh-CN" b="1" dirty="0">
                <a:latin typeface="微软雅黑" panose="020B0503020204020204" pitchFamily="34" charset="-122"/>
                <a:ea typeface="微软雅黑" panose="020B0503020204020204" pitchFamily="34" charset="-122"/>
              </a:rPr>
              <a:t>https://chat.deepseek.com/share/oykknuvn2uj2oj5z0d</a:t>
            </a:r>
            <a:endParaRPr lang="en-US" altLang="zh-CN" sz="1800" b="1"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1146632" y="2074083"/>
            <a:ext cx="2787013" cy="4259896"/>
          </a:xfrm>
          <a:prstGeom prst="rect">
            <a:avLst/>
          </a:prstGeom>
        </p:spPr>
      </p:pic>
      <p:sp>
        <p:nvSpPr>
          <p:cNvPr id="9" name="文本框 8"/>
          <p:cNvSpPr txBox="1"/>
          <p:nvPr/>
        </p:nvSpPr>
        <p:spPr>
          <a:xfrm>
            <a:off x="4518339" y="2074083"/>
            <a:ext cx="7153199" cy="4247317"/>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n. </a:t>
            </a:r>
          </a:p>
          <a:p>
            <a:r>
              <a:rPr lang="zh-CN" altLang="en-US" dirty="0">
                <a:latin typeface="微软雅黑" panose="020B0503020204020204" pitchFamily="34" charset="-122"/>
                <a:ea typeface="微软雅黑" panose="020B0503020204020204" pitchFamily="34" charset="-122"/>
              </a:rPr>
              <a:t>商品编号：</a:t>
            </a:r>
          </a:p>
          <a:p>
            <a:r>
              <a:rPr lang="zh-CN" altLang="en-US" dirty="0">
                <a:latin typeface="微软雅黑" panose="020B0503020204020204" pitchFamily="34" charset="-122"/>
                <a:ea typeface="微软雅黑" panose="020B0503020204020204" pitchFamily="34" charset="-122"/>
              </a:rPr>
              <a:t>商品名称：</a:t>
            </a:r>
          </a:p>
          <a:p>
            <a:r>
              <a:rPr lang="zh-CN" altLang="en-US" dirty="0">
                <a:latin typeface="微软雅黑" panose="020B0503020204020204" pitchFamily="34" charset="-122"/>
                <a:ea typeface="微软雅黑" panose="020B0503020204020204" pitchFamily="34" charset="-122"/>
              </a:rPr>
              <a:t>商品单价：</a:t>
            </a:r>
          </a:p>
          <a:p>
            <a:r>
              <a:rPr lang="zh-CN" altLang="en-US" dirty="0">
                <a:latin typeface="微软雅黑" panose="020B0503020204020204" pitchFamily="34" charset="-122"/>
                <a:ea typeface="微软雅黑" panose="020B0503020204020204" pitchFamily="34" charset="-122"/>
              </a:rPr>
              <a:t>商品数量：</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n+1. </a:t>
            </a:r>
          </a:p>
          <a:p>
            <a:r>
              <a:rPr lang="zh-CN" altLang="en-US" dirty="0">
                <a:latin typeface="微软雅黑" panose="020B0503020204020204" pitchFamily="34" charset="-122"/>
                <a:ea typeface="微软雅黑" panose="020B0503020204020204" pitchFamily="34" charset="-122"/>
              </a:rPr>
              <a:t>商品编号：</a:t>
            </a:r>
          </a:p>
          <a:p>
            <a:r>
              <a:rPr lang="zh-CN" altLang="en-US" dirty="0">
                <a:latin typeface="微软雅黑" panose="020B0503020204020204" pitchFamily="34" charset="-122"/>
                <a:ea typeface="微软雅黑" panose="020B0503020204020204" pitchFamily="34" charset="-122"/>
              </a:rPr>
              <a:t>商品名称：</a:t>
            </a:r>
          </a:p>
          <a:p>
            <a:r>
              <a:rPr lang="zh-CN" altLang="en-US" dirty="0">
                <a:latin typeface="微软雅黑" panose="020B0503020204020204" pitchFamily="34" charset="-122"/>
                <a:ea typeface="微软雅黑" panose="020B0503020204020204" pitchFamily="34" charset="-122"/>
              </a:rPr>
              <a:t>商品单价：</a:t>
            </a:r>
          </a:p>
          <a:p>
            <a:r>
              <a:rPr lang="zh-CN" altLang="en-US" dirty="0">
                <a:latin typeface="微软雅黑" panose="020B0503020204020204" pitchFamily="34" charset="-122"/>
                <a:ea typeface="微软雅黑" panose="020B0503020204020204" pitchFamily="34" charset="-122"/>
              </a:rPr>
              <a:t>商品数量：</a:t>
            </a:r>
          </a:p>
          <a:p>
            <a:r>
              <a:rPr lang="zh-CN" altLang="en-US" dirty="0">
                <a:latin typeface="微软雅黑" panose="020B0503020204020204" pitchFamily="34" charset="-122"/>
                <a:ea typeface="微软雅黑" panose="020B0503020204020204" pitchFamily="34" charset="-122"/>
              </a:rPr>
              <a:t>现有按以上格式存储在SP.txt文件中的商品信息，n为大于0的整数，现在写一个Python脚本读取文件中的商品信息，并将信息写入SP.xlsx文件中，.xlsx文件中不记录n，第一行前四列分别用于标注商品编号、商品名称、商品单价、商品数量，后续每行保存一件商品的信息</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实操示例</a:t>
            </a:r>
          </a:p>
        </p:txBody>
      </p:sp>
      <p:sp>
        <p:nvSpPr>
          <p:cNvPr id="3" name="文本框 2"/>
          <p:cNvSpPr txBox="1"/>
          <p:nvPr/>
        </p:nvSpPr>
        <p:spPr>
          <a:xfrm>
            <a:off x="559851" y="1382007"/>
            <a:ext cx="7406385" cy="646331"/>
          </a:xfrm>
          <a:prstGeom prst="rect">
            <a:avLst/>
          </a:prstGeom>
          <a:noFill/>
        </p:spPr>
        <p:txBody>
          <a:bodyPr wrap="square">
            <a:spAutoFit/>
          </a:bodyPr>
          <a:lstStyle/>
          <a:p>
            <a:pPr algn="l"/>
            <a:r>
              <a:rPr lang="en-US" altLang="zh-CN" sz="1800" b="1" dirty="0">
                <a:latin typeface="微软雅黑" panose="020B0503020204020204" pitchFamily="34" charset="-122"/>
                <a:ea typeface="微软雅黑" panose="020B0503020204020204" pitchFamily="34" charset="-122"/>
              </a:rPr>
              <a:t>1.</a:t>
            </a:r>
            <a:r>
              <a:rPr lang="zh-CN" altLang="en-US" sz="1800" b="1" dirty="0">
                <a:latin typeface="微软雅黑" panose="020B0503020204020204" pitchFamily="34" charset="-122"/>
                <a:ea typeface="微软雅黑" panose="020B0503020204020204" pitchFamily="34" charset="-122"/>
              </a:rPr>
              <a:t>编写脚本处理简单重复性工作：</a:t>
            </a:r>
            <a:endParaRPr lang="en-US" altLang="zh-CN" sz="1800"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链接：</a:t>
            </a:r>
            <a:r>
              <a:rPr lang="en-US" altLang="zh-CN" b="1" dirty="0">
                <a:latin typeface="微软雅黑" panose="020B0503020204020204" pitchFamily="34" charset="-122"/>
                <a:ea typeface="微软雅黑" panose="020B0503020204020204" pitchFamily="34" charset="-122"/>
              </a:rPr>
              <a:t>https://chat.deepseek.com/share/oykknuvn2uj2oj5z0d</a:t>
            </a:r>
            <a:endParaRPr lang="en-US" altLang="zh-CN" sz="180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1648931" y="2018969"/>
            <a:ext cx="3466533" cy="4433738"/>
          </a:xfrm>
          <a:prstGeom prst="rect">
            <a:avLst/>
          </a:prstGeom>
        </p:spPr>
      </p:pic>
      <p:pic>
        <p:nvPicPr>
          <p:cNvPr id="12" name="图片 11"/>
          <p:cNvPicPr>
            <a:picLocks noChangeAspect="1"/>
          </p:cNvPicPr>
          <p:nvPr/>
        </p:nvPicPr>
        <p:blipFill>
          <a:blip r:embed="rId4"/>
          <a:stretch>
            <a:fillRect/>
          </a:stretch>
        </p:blipFill>
        <p:spPr>
          <a:xfrm>
            <a:off x="6196971" y="2028337"/>
            <a:ext cx="4499775" cy="44031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实操示例</a:t>
            </a:r>
          </a:p>
        </p:txBody>
      </p:sp>
      <p:sp>
        <p:nvSpPr>
          <p:cNvPr id="3" name="文本框 2"/>
          <p:cNvSpPr txBox="1"/>
          <p:nvPr/>
        </p:nvSpPr>
        <p:spPr>
          <a:xfrm>
            <a:off x="559851" y="1382007"/>
            <a:ext cx="7406385" cy="646331"/>
          </a:xfrm>
          <a:prstGeom prst="rect">
            <a:avLst/>
          </a:prstGeom>
          <a:noFill/>
        </p:spPr>
        <p:txBody>
          <a:bodyPr wrap="square">
            <a:spAutoFit/>
          </a:bodyPr>
          <a:lstStyle/>
          <a:p>
            <a:pPr algn="l"/>
            <a:r>
              <a:rPr lang="en-US" altLang="zh-CN" b="1" dirty="0">
                <a:latin typeface="微软雅黑" panose="020B0503020204020204" pitchFamily="34" charset="-122"/>
                <a:ea typeface="微软雅黑" panose="020B0503020204020204" pitchFamily="34" charset="-122"/>
              </a:rPr>
              <a:t>2</a:t>
            </a:r>
            <a:r>
              <a:rPr lang="en-US" altLang="zh-CN" sz="1800"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功能更强的仓库管理系统</a:t>
            </a:r>
            <a:r>
              <a:rPr lang="zh-CN" altLang="en-US"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链接：</a:t>
            </a:r>
            <a:r>
              <a:rPr lang="en-US" altLang="zh-CN" b="1" dirty="0">
                <a:latin typeface="微软雅黑" panose="020B0503020204020204" pitchFamily="34" charset="-122"/>
                <a:ea typeface="微软雅黑" panose="020B0503020204020204" pitchFamily="34" charset="-122"/>
              </a:rPr>
              <a:t>https://chat.deepseek.com/share/hn56a4bykpp015o83t</a:t>
            </a:r>
            <a:endParaRPr lang="en-US" altLang="zh-CN" sz="1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624813" y="2071261"/>
            <a:ext cx="8942372" cy="4401205"/>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使用python写一个仓库管理程序，并设计可视化界面。仓库针对不同物品的存储要求，需要区分常温区、低温区和冷冻区，存储要求在首次添加商品时定义。仓库需要初始化仓库各分区的容量并且可进行扩容和缩减。当仓库各分区占用低于20%或高于80%需要报警，仓库需要记录商品的编号、名称、单价、单位体积、数量、报警数量的上下限，当商品数量不处于此区间内需要报警，商品总保质期，入库时需要记录商品编号、数量、剩余保质期、入库时间、操作人。如没有此商品则先创建此商品。出库时优先出库剩余保质期最短的，记录商品编号、数量、出库时间、操作人。如库存不足则此次出库不进行。在首页可以看到商品种数、三个分区商品种树、库存总价值、三个分区库存总价值、仓库总占用率、三个分区占用率。可通过商品列表查看所有商品并且支持所有商品在商品列表中根据不同属性排序（包括当前商品库存总价值），也可通过商品编号、商品名称查询商品，查看商品时可查看不同批次入库的商品，商品剩余保质期低于总保质期20%需要报警。管理系统支持报表导出功能、操作日志备份功能、支持数据备份和数据恢复功能。</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实操示例</a:t>
            </a:r>
          </a:p>
        </p:txBody>
      </p:sp>
      <p:pic>
        <p:nvPicPr>
          <p:cNvPr id="8" name="图片 7"/>
          <p:cNvPicPr>
            <a:picLocks noChangeAspect="1"/>
          </p:cNvPicPr>
          <p:nvPr/>
        </p:nvPicPr>
        <p:blipFill>
          <a:blip r:embed="rId3"/>
          <a:stretch>
            <a:fillRect/>
          </a:stretch>
        </p:blipFill>
        <p:spPr>
          <a:xfrm>
            <a:off x="2320729" y="967130"/>
            <a:ext cx="8788612" cy="53464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648931" y="38302"/>
            <a:ext cx="4737100"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课程介绍</a:t>
            </a:r>
          </a:p>
        </p:txBody>
      </p:sp>
      <p:grpSp>
        <p:nvGrpSpPr>
          <p:cNvPr id="18" name="组合 17"/>
          <p:cNvGrpSpPr/>
          <p:nvPr/>
        </p:nvGrpSpPr>
        <p:grpSpPr>
          <a:xfrm>
            <a:off x="-1" y="6488668"/>
            <a:ext cx="12191999" cy="369332"/>
            <a:chOff x="0" y="6606000"/>
            <a:chExt cx="9144000" cy="369332"/>
          </a:xfrm>
        </p:grpSpPr>
        <p:sp>
          <p:nvSpPr>
            <p:cNvPr id="19" name="文本框 18"/>
            <p:cNvSpPr txBox="1"/>
            <p:nvPr/>
          </p:nvSpPr>
          <p:spPr>
            <a:xfrm>
              <a:off x="0" y="6606000"/>
              <a:ext cx="4572000" cy="369332"/>
            </a:xfrm>
            <a:prstGeom prst="rect">
              <a:avLst/>
            </a:prstGeom>
            <a:solidFill>
              <a:schemeClr val="tx1"/>
            </a:solidFill>
            <a:effectLst/>
          </p:spPr>
          <p:txBody>
            <a:bodyPr wrap="square" rtlCol="0">
              <a:spAutoFit/>
            </a:bodyPr>
            <a:lstStyle/>
            <a:p>
              <a:endParaRPr lang="zh-CN" altLang="en-US" dirty="0">
                <a:solidFill>
                  <a:srgbClr val="002060"/>
                </a:solidFill>
              </a:endParaRPr>
            </a:p>
          </p:txBody>
        </p:sp>
        <p:sp>
          <p:nvSpPr>
            <p:cNvPr id="20" name="文本框 19"/>
            <p:cNvSpPr txBox="1"/>
            <p:nvPr/>
          </p:nvSpPr>
          <p:spPr>
            <a:xfrm>
              <a:off x="4572000" y="6606000"/>
              <a:ext cx="4572000" cy="369332"/>
            </a:xfrm>
            <a:prstGeom prst="rect">
              <a:avLst/>
            </a:prstGeom>
            <a:solidFill>
              <a:srgbClr val="0070C0"/>
            </a:solidFill>
            <a:effectLst/>
          </p:spPr>
          <p:txBody>
            <a:bodyPr wrap="square" rtlCol="0">
              <a:spAutoFit/>
            </a:bodyPr>
            <a:lstStyle/>
            <a:p>
              <a:endParaRPr lang="zh-CN" altLang="en-US" dirty="0">
                <a:solidFill>
                  <a:srgbClr val="002060"/>
                </a:solidFill>
              </a:endParaRPr>
            </a:p>
          </p:txBody>
        </p:sp>
        <p:sp>
          <p:nvSpPr>
            <p:cNvPr id="21" name="文本框 20"/>
            <p:cNvSpPr txBox="1"/>
            <p:nvPr/>
          </p:nvSpPr>
          <p:spPr>
            <a:xfrm>
              <a:off x="191099" y="6651745"/>
              <a:ext cx="4122057" cy="284693"/>
            </a:xfrm>
            <a:prstGeom prst="rect">
              <a:avLst/>
            </a:prstGeom>
            <a:noFill/>
          </p:spPr>
          <p:txBody>
            <a:bodyPr wrap="square" rtlCol="0">
              <a:spAutoFit/>
            </a:bodyPr>
            <a:lstStyle/>
            <a:p>
              <a:pPr algn="ctr">
                <a:lnSpc>
                  <a:spcPts val="1500"/>
                </a:lnSpc>
              </a:pPr>
              <a:r>
                <a:rPr lang="en-US" altLang="zh-CN" sz="1400" dirty="0">
                  <a:solidFill>
                    <a:schemeClr val="bg1"/>
                  </a:solidFill>
                </a:rPr>
                <a:t>IIAU</a:t>
              </a:r>
              <a:r>
                <a:rPr lang="zh-CN" altLang="en-US" sz="1400" dirty="0">
                  <a:solidFill>
                    <a:schemeClr val="bg1"/>
                  </a:solidFill>
                </a:rPr>
                <a:t> </a:t>
              </a:r>
              <a:r>
                <a:rPr lang="en-US" altLang="zh-CN" sz="1400" dirty="0">
                  <a:solidFill>
                    <a:schemeClr val="bg1"/>
                  </a:solidFill>
                </a:rPr>
                <a:t>Lab</a:t>
              </a:r>
            </a:p>
          </p:txBody>
        </p:sp>
        <p:sp>
          <p:nvSpPr>
            <p:cNvPr id="22" name="文本框 21"/>
            <p:cNvSpPr txBox="1"/>
            <p:nvPr/>
          </p:nvSpPr>
          <p:spPr>
            <a:xfrm>
              <a:off x="4862031" y="6628692"/>
              <a:ext cx="4122057" cy="307777"/>
            </a:xfrm>
            <a:prstGeom prst="rect">
              <a:avLst/>
            </a:prstGeom>
            <a:noFill/>
          </p:spPr>
          <p:txBody>
            <a:bodyPr wrap="square" rtlCol="0">
              <a:spAutoFit/>
            </a:bodyPr>
            <a:lstStyle/>
            <a:p>
              <a:pPr algn="ctr"/>
              <a:r>
                <a:rPr lang="en-US" altLang="zh-CN" sz="1400" b="1" dirty="0">
                  <a:solidFill>
                    <a:schemeClr val="bg1"/>
                  </a:solidFill>
                  <a:latin typeface="+mn-ea"/>
                </a:rPr>
                <a:t>Dalian</a:t>
              </a:r>
              <a:r>
                <a:rPr lang="zh-CN" altLang="en-US" sz="1400" b="1" dirty="0">
                  <a:solidFill>
                    <a:schemeClr val="bg1"/>
                  </a:solidFill>
                  <a:latin typeface="+mn-ea"/>
                </a:rPr>
                <a:t> </a:t>
              </a:r>
              <a:r>
                <a:rPr lang="en-US" altLang="zh-CN" sz="1400" b="1" dirty="0">
                  <a:solidFill>
                    <a:schemeClr val="bg1"/>
                  </a:solidFill>
                  <a:latin typeface="+mn-ea"/>
                </a:rPr>
                <a:t>University</a:t>
              </a:r>
              <a:r>
                <a:rPr lang="zh-CN" altLang="en-US" sz="1400" b="1" dirty="0">
                  <a:solidFill>
                    <a:schemeClr val="bg1"/>
                  </a:solidFill>
                  <a:latin typeface="+mn-ea"/>
                </a:rPr>
                <a:t> </a:t>
              </a:r>
              <a:r>
                <a:rPr lang="en-US" altLang="zh-CN" sz="1400" b="1" dirty="0">
                  <a:solidFill>
                    <a:schemeClr val="bg1"/>
                  </a:solidFill>
                  <a:latin typeface="+mn-ea"/>
                </a:rPr>
                <a:t>of</a:t>
              </a:r>
              <a:r>
                <a:rPr lang="zh-CN" altLang="en-US" sz="1400" b="1" dirty="0">
                  <a:solidFill>
                    <a:schemeClr val="bg1"/>
                  </a:solidFill>
                  <a:latin typeface="+mn-ea"/>
                </a:rPr>
                <a:t> </a:t>
              </a:r>
              <a:r>
                <a:rPr lang="en-US" altLang="zh-CN" sz="1400" b="1" dirty="0">
                  <a:solidFill>
                    <a:schemeClr val="bg1"/>
                  </a:solidFill>
                  <a:latin typeface="+mn-ea"/>
                </a:rPr>
                <a:t>Technology</a:t>
              </a:r>
            </a:p>
          </p:txBody>
        </p:sp>
      </p:grpSp>
      <p:sp>
        <p:nvSpPr>
          <p:cNvPr id="7" name="文本框 6"/>
          <p:cNvSpPr txBox="1"/>
          <p:nvPr/>
        </p:nvSpPr>
        <p:spPr>
          <a:xfrm>
            <a:off x="2320729" y="44462"/>
            <a:ext cx="8323953" cy="646331"/>
          </a:xfrm>
          <a:prstGeom prst="rect">
            <a:avLst/>
          </a:prstGeom>
          <a:noFill/>
        </p:spPr>
        <p:txBody>
          <a:bodyPr wrap="square" rtlCol="0">
            <a:spAutoFit/>
          </a:bodyPr>
          <a:lstStyle/>
          <a:p>
            <a:r>
              <a:rPr lang="zh-CN" altLang="en-US" sz="3600" dirty="0">
                <a:solidFill>
                  <a:schemeClr val="bg1"/>
                </a:solidFill>
                <a:latin typeface="微软雅黑" panose="020B0503020204020204" pitchFamily="34" charset="-122"/>
                <a:ea typeface="微软雅黑" panose="020B0503020204020204" pitchFamily="34" charset="-122"/>
              </a:rPr>
              <a:t>近五年承担的国家级重大重点项目情况</a:t>
            </a:r>
          </a:p>
        </p:txBody>
      </p:sp>
      <p:sp>
        <p:nvSpPr>
          <p:cNvPr id="2" name="矩形 1"/>
          <p:cNvSpPr/>
          <p:nvPr/>
        </p:nvSpPr>
        <p:spPr>
          <a:xfrm>
            <a:off x="0" y="-1"/>
            <a:ext cx="12191999" cy="792000"/>
          </a:xfrm>
          <a:prstGeom prst="rect">
            <a:avLst/>
          </a:prstGeom>
          <a:solidFill>
            <a:schemeClr val="accent5">
              <a:lumMod val="75000"/>
            </a:schemeClr>
          </a:solidFill>
          <a:effectLst>
            <a:outerShdw blurRad="50800" dist="38100" dir="5400000" algn="t" rotWithShape="0">
              <a:prstClr val="black">
                <a:alpha val="40000"/>
              </a:prst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dirty="0"/>
          </a:p>
        </p:txBody>
      </p:sp>
      <p:sp>
        <p:nvSpPr>
          <p:cNvPr id="16" name="文本框 15"/>
          <p:cNvSpPr txBox="1"/>
          <p:nvPr/>
        </p:nvSpPr>
        <p:spPr>
          <a:xfrm>
            <a:off x="2030898" y="122394"/>
            <a:ext cx="8213938" cy="646331"/>
          </a:xfrm>
          <a:prstGeom prst="rect">
            <a:avLst/>
          </a:prstGeom>
          <a:noFill/>
        </p:spPr>
        <p:txBody>
          <a:bodyPr wrap="square" rtlCol="0">
            <a:spAutoFit/>
          </a:bodyPr>
          <a:lstStyle/>
          <a:p>
            <a:pPr algn="ctr">
              <a:spcBef>
                <a:spcPts val="450"/>
              </a:spcBef>
              <a:spcAft>
                <a:spcPts val="450"/>
              </a:spcAft>
            </a:pP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用</a:t>
            </a:r>
            <a:r>
              <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AI</a:t>
            </a:r>
            <a:r>
              <a:rPr lang="zh-CN" altLang="en-US"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rPr>
              <a:t>大模型辅助编程</a:t>
            </a:r>
            <a:endParaRPr lang="en-US" altLang="zh-CN" sz="3600" b="1" dirty="0">
              <a:solidFill>
                <a:schemeClr val="bg1"/>
              </a:solidFill>
              <a:effectLst>
                <a:outerShdw blurRad="38100" dist="38100" dir="2700000" algn="tl">
                  <a:srgbClr val="000000">
                    <a:alpha val="43137"/>
                  </a:srgbClr>
                </a:outerShdw>
              </a:effectLst>
              <a:latin typeface="+mn-ea"/>
              <a:cs typeface="Microsoft New Tai Lue" panose="020B0502040204020203" pitchFamily="34" charset="0"/>
            </a:endParaRPr>
          </a:p>
        </p:txBody>
      </p:sp>
      <p:sp>
        <p:nvSpPr>
          <p:cNvPr id="4" name="矩形 3"/>
          <p:cNvSpPr/>
          <p:nvPr/>
        </p:nvSpPr>
        <p:spPr>
          <a:xfrm>
            <a:off x="126052" y="919999"/>
            <a:ext cx="4136992" cy="481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kumimoji="1" lang="zh-CN" altLang="en-US" sz="2400" b="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注意事项</a:t>
            </a:r>
          </a:p>
        </p:txBody>
      </p:sp>
      <p:sp>
        <p:nvSpPr>
          <p:cNvPr id="3" name="文本框 2"/>
          <p:cNvSpPr txBox="1"/>
          <p:nvPr/>
        </p:nvSpPr>
        <p:spPr>
          <a:xfrm>
            <a:off x="3022839" y="2274838"/>
            <a:ext cx="6146320" cy="2308324"/>
          </a:xfrm>
          <a:prstGeom prst="rect">
            <a:avLst/>
          </a:prstGeom>
          <a:noFill/>
        </p:spPr>
        <p:txBody>
          <a:bodyPr wrap="square">
            <a:spAutoFit/>
          </a:bodyPr>
          <a:lstStyle/>
          <a:p>
            <a:pPr algn="l"/>
            <a:r>
              <a:rPr lang="zh-CN" altLang="en-US" b="1" dirty="0">
                <a:latin typeface="微软雅黑" panose="020B0503020204020204" pitchFamily="34" charset="-122"/>
                <a:ea typeface="微软雅黑" panose="020B0503020204020204" pitchFamily="34" charset="-122"/>
              </a:rPr>
              <a:t>避免过度依赖</a:t>
            </a:r>
            <a:r>
              <a:rPr lang="zh-CN" altLang="en-US"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a:p>
            <a:pPr algn="l"/>
            <a:r>
              <a:rPr lang="zh-CN" altLang="en-US" dirty="0">
                <a:latin typeface="微软雅黑" panose="020B0503020204020204" pitchFamily="34" charset="-122"/>
                <a:ea typeface="微软雅黑" panose="020B0503020204020204" pitchFamily="34" charset="-122"/>
              </a:rPr>
              <a:t>编程技能的提升，终究离不开自身的学习与实践。</a:t>
            </a:r>
            <a:endParaRPr lang="en-US" altLang="zh-CN" dirty="0">
              <a:latin typeface="微软雅黑" panose="020B0503020204020204" pitchFamily="34" charset="-122"/>
              <a:ea typeface="微软雅黑" panose="020B0503020204020204" pitchFamily="34" charset="-122"/>
            </a:endParaRPr>
          </a:p>
          <a:p>
            <a:pPr algn="l"/>
            <a:endParaRPr lang="en-US" altLang="zh-CN" dirty="0">
              <a:latin typeface="微软雅黑" panose="020B0503020204020204" pitchFamily="34" charset="-122"/>
              <a:ea typeface="微软雅黑" panose="020B0503020204020204" pitchFamily="34" charset="-122"/>
            </a:endParaRPr>
          </a:p>
          <a:p>
            <a:pPr algn="l"/>
            <a:r>
              <a:rPr lang="en-US" altLang="zh-CN" sz="1800" dirty="0">
                <a:latin typeface="微软雅黑" panose="020B0503020204020204" pitchFamily="34" charset="-122"/>
                <a:ea typeface="微软雅黑" panose="020B0503020204020204" pitchFamily="34" charset="-122"/>
              </a:rPr>
              <a:t>AI</a:t>
            </a:r>
            <a:r>
              <a:rPr lang="zh-CN" altLang="en-US" sz="1800" dirty="0">
                <a:latin typeface="微软雅黑" panose="020B0503020204020204" pitchFamily="34" charset="-122"/>
                <a:ea typeface="微软雅黑" panose="020B0503020204020204" pitchFamily="34" charset="-122"/>
              </a:rPr>
              <a:t>无法深入理解项目的业务逻辑、设计思路，针对复杂的特殊情况，需要自己调整和优化。</a:t>
            </a:r>
            <a:endParaRPr lang="en-US" altLang="zh-CN" sz="1800" dirty="0">
              <a:latin typeface="微软雅黑" panose="020B0503020204020204" pitchFamily="34" charset="-122"/>
              <a:ea typeface="微软雅黑" panose="020B0503020204020204" pitchFamily="34" charset="-122"/>
            </a:endParaRPr>
          </a:p>
          <a:p>
            <a:pPr algn="l"/>
            <a:endParaRPr lang="en-US" altLang="zh-CN" dirty="0">
              <a:latin typeface="微软雅黑" panose="020B0503020204020204" pitchFamily="34" charset="-122"/>
              <a:ea typeface="微软雅黑" panose="020B0503020204020204" pitchFamily="34" charset="-122"/>
            </a:endParaRPr>
          </a:p>
          <a:p>
            <a:pPr algn="l"/>
            <a:r>
              <a:rPr lang="zh-CN" altLang="en-US" dirty="0">
                <a:latin typeface="微软雅黑" panose="020B0503020204020204" pitchFamily="34" charset="-122"/>
                <a:ea typeface="微软雅黑" panose="020B0503020204020204" pitchFamily="34" charset="-122"/>
              </a:rPr>
              <a:t>学习并掌握</a:t>
            </a:r>
            <a:r>
              <a:rPr lang="en-US" altLang="zh-CN" dirty="0">
                <a:latin typeface="微软雅黑" panose="020B0503020204020204" pitchFamily="34" charset="-122"/>
                <a:ea typeface="微软雅黑" panose="020B0503020204020204" pitchFamily="34" charset="-122"/>
              </a:rPr>
              <a:t>AI</a:t>
            </a:r>
            <a:r>
              <a:rPr lang="zh-CN" altLang="en-US" dirty="0">
                <a:latin typeface="微软雅黑" panose="020B0503020204020204" pitchFamily="34" charset="-122"/>
                <a:ea typeface="微软雅黑" panose="020B0503020204020204" pitchFamily="34" charset="-122"/>
              </a:rPr>
              <a:t>实现的项目中优秀的实现方法，进一步提升自身的编程技能。</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328356" y="1470701"/>
            <a:ext cx="6548072" cy="2215991"/>
          </a:xfrm>
          <a:prstGeom prst="rect">
            <a:avLst/>
          </a:prstGeom>
          <a:noFill/>
        </p:spPr>
        <p:txBody>
          <a:bodyPr wrap="square" rtlCol="0">
            <a:spAutoFit/>
          </a:bodyPr>
          <a:lstStyle/>
          <a:p>
            <a:pPr algn="ctr">
              <a:spcBef>
                <a:spcPts val="600"/>
              </a:spcBef>
              <a:spcAft>
                <a:spcPts val="600"/>
              </a:spcAft>
            </a:pPr>
            <a:r>
              <a:rPr lang="en-US" altLang="zh-CN" sz="13800" b="1" dirty="0">
                <a:solidFill>
                  <a:srgbClr val="0070C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icrosoft New Tai Lue" panose="020B0502040204020203" pitchFamily="34" charset="0"/>
              </a:rPr>
              <a:t>Thanks</a:t>
            </a:r>
            <a:r>
              <a:rPr lang="zh-CN" altLang="en-US" sz="13800" b="1" dirty="0">
                <a:solidFill>
                  <a:srgbClr val="0070C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icrosoft New Tai Lue" panose="020B0502040204020203" pitchFamily="34" charset="0"/>
              </a:rPr>
              <a:t>！</a:t>
            </a:r>
            <a:endParaRPr lang="en-US" altLang="zh-CN" sz="13800" b="1" dirty="0">
              <a:solidFill>
                <a:srgbClr val="0070C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icrosoft New Tai Lue" panose="020B0502040204020203" pitchFamily="34" charset="0"/>
            </a:endParaRPr>
          </a:p>
        </p:txBody>
      </p:sp>
      <p:grpSp>
        <p:nvGrpSpPr>
          <p:cNvPr id="2" name="组合 1"/>
          <p:cNvGrpSpPr/>
          <p:nvPr/>
        </p:nvGrpSpPr>
        <p:grpSpPr>
          <a:xfrm>
            <a:off x="-607" y="5607816"/>
            <a:ext cx="12192607" cy="1299698"/>
            <a:chOff x="-607" y="5607816"/>
            <a:chExt cx="12192607" cy="1299698"/>
          </a:xfrm>
        </p:grpSpPr>
        <p:sp>
          <p:nvSpPr>
            <p:cNvPr id="11" name="文本框 10"/>
            <p:cNvSpPr txBox="1"/>
            <p:nvPr/>
          </p:nvSpPr>
          <p:spPr>
            <a:xfrm>
              <a:off x="2989872" y="6538182"/>
              <a:ext cx="2358386" cy="369332"/>
            </a:xfrm>
            <a:prstGeom prst="rect">
              <a:avLst/>
            </a:prstGeom>
            <a:noFill/>
          </p:spPr>
          <p:txBody>
            <a:bodyPr wrap="square" rtlCol="0">
              <a:spAutoFit/>
            </a:bodyPr>
            <a:lstStyle/>
            <a:p>
              <a:pPr algn="ctr"/>
              <a:r>
                <a:rPr lang="en-US" altLang="zh-CN" sz="900" dirty="0">
                  <a:solidFill>
                    <a:schemeClr val="bg1"/>
                  </a:solidFill>
                  <a:latin typeface="Microsoft New Tai Lue" panose="020B0502040204020203" pitchFamily="34" charset="0"/>
                  <a:cs typeface="Microsoft New Tai Lue" panose="020B0502040204020203" pitchFamily="34" charset="0"/>
                </a:rPr>
                <a:t>Copyright © 2018, IIAU-Lab, DLUT.</a:t>
              </a:r>
            </a:p>
            <a:p>
              <a:pPr algn="ctr"/>
              <a:r>
                <a:rPr lang="en-US" altLang="zh-CN" sz="900" dirty="0">
                  <a:solidFill>
                    <a:schemeClr val="bg1"/>
                  </a:solidFill>
                  <a:latin typeface="Microsoft New Tai Lue" panose="020B0502040204020203" pitchFamily="34" charset="0"/>
                  <a:cs typeface="Microsoft New Tai Lue" panose="020B0502040204020203" pitchFamily="34" charset="0"/>
                </a:rPr>
                <a:t>All rights reserved.</a:t>
              </a:r>
              <a:endParaRPr lang="zh-CN" altLang="en-US" sz="900" dirty="0">
                <a:solidFill>
                  <a:schemeClr val="bg1"/>
                </a:solidFill>
                <a:latin typeface="Microsoft New Tai Lue" panose="020B0502040204020203" pitchFamily="34" charset="0"/>
                <a:cs typeface="Microsoft New Tai Lue" panose="020B0502040204020203" pitchFamily="34" charset="0"/>
              </a:endParaRPr>
            </a:p>
          </p:txBody>
        </p:sp>
        <p:pic>
          <p:nvPicPr>
            <p:cNvPr id="12" name="图片 11"/>
            <p:cNvPicPr>
              <a:picLocks noChangeAspect="1"/>
            </p:cNvPicPr>
            <p:nvPr/>
          </p:nvPicPr>
          <p:blipFill rotWithShape="1">
            <a:blip r:embed="rId3"/>
            <a:srcRect t="4775"/>
            <a:stretch>
              <a:fillRect/>
            </a:stretch>
          </p:blipFill>
          <p:spPr>
            <a:xfrm>
              <a:off x="4055936" y="5607817"/>
              <a:ext cx="2074690" cy="1299697"/>
            </a:xfrm>
            <a:prstGeom prst="rect">
              <a:avLst/>
            </a:prstGeom>
          </p:spPr>
        </p:pic>
        <p:pic>
          <p:nvPicPr>
            <p:cNvPr id="16" name="图片 4"/>
            <p:cNvPicPr>
              <a:picLocks noChangeAspect="1"/>
            </p:cNvPicPr>
            <p:nvPr/>
          </p:nvPicPr>
          <p:blipFill>
            <a:blip r:embed="rId4"/>
            <a:stretch>
              <a:fillRect/>
            </a:stretch>
          </p:blipFill>
          <p:spPr>
            <a:xfrm>
              <a:off x="2078260" y="5611569"/>
              <a:ext cx="1982984" cy="1295945"/>
            </a:xfrm>
            <a:prstGeom prst="rect">
              <a:avLst/>
            </a:prstGeom>
            <a:noFill/>
            <a:ln w="9525">
              <a:noFill/>
            </a:ln>
          </p:spPr>
        </p:pic>
        <p:pic>
          <p:nvPicPr>
            <p:cNvPr id="17" name="图片 16"/>
            <p:cNvPicPr>
              <a:picLocks noChangeAspect="1"/>
            </p:cNvPicPr>
            <p:nvPr/>
          </p:nvPicPr>
          <p:blipFill>
            <a:blip r:embed="rId5"/>
            <a:stretch>
              <a:fillRect/>
            </a:stretch>
          </p:blipFill>
          <p:spPr>
            <a:xfrm>
              <a:off x="-607" y="5610686"/>
              <a:ext cx="2045137" cy="1286635"/>
            </a:xfrm>
            <a:prstGeom prst="rect">
              <a:avLst/>
            </a:prstGeom>
          </p:spPr>
        </p:pic>
        <p:pic>
          <p:nvPicPr>
            <p:cNvPr id="18" name="图片 12" descr="微甬江职高效果图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3579" y="5614563"/>
              <a:ext cx="2056786" cy="129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8"/>
            <p:cNvPicPr>
              <a:picLocks noChangeAspect="1"/>
            </p:cNvPicPr>
            <p:nvPr/>
          </p:nvPicPr>
          <p:blipFill>
            <a:blip r:embed="rId7"/>
            <a:stretch>
              <a:fillRect/>
            </a:stretch>
          </p:blipFill>
          <p:spPr>
            <a:xfrm>
              <a:off x="8180301" y="5614562"/>
              <a:ext cx="2055202" cy="1286259"/>
            </a:xfrm>
            <a:prstGeom prst="rect">
              <a:avLst/>
            </a:prstGeom>
          </p:spPr>
        </p:pic>
        <p:pic>
          <p:nvPicPr>
            <p:cNvPr id="20" name="图片 19"/>
            <p:cNvPicPr>
              <a:picLocks noChangeAspect="1"/>
            </p:cNvPicPr>
            <p:nvPr/>
          </p:nvPicPr>
          <p:blipFill>
            <a:blip r:embed="rId8"/>
            <a:stretch>
              <a:fillRect/>
            </a:stretch>
          </p:blipFill>
          <p:spPr>
            <a:xfrm>
              <a:off x="10235503" y="5611064"/>
              <a:ext cx="1956497" cy="1286258"/>
            </a:xfrm>
            <a:prstGeom prst="rect">
              <a:avLst/>
            </a:prstGeom>
          </p:spPr>
        </p:pic>
        <p:pic>
          <p:nvPicPr>
            <p:cNvPr id="21" name="图片 20"/>
            <p:cNvPicPr>
              <a:picLocks noChangeAspect="1"/>
            </p:cNvPicPr>
            <p:nvPr/>
          </p:nvPicPr>
          <p:blipFill>
            <a:blip r:embed="rId9"/>
            <a:stretch>
              <a:fillRect/>
            </a:stretch>
          </p:blipFill>
          <p:spPr>
            <a:xfrm>
              <a:off x="2005048" y="5607816"/>
              <a:ext cx="2052101" cy="1299697"/>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advTm="9452"/>
    </mc:Choice>
    <mc:Fallback xmlns="">
      <p:transition advTm="9452"/>
    </mc:Fallback>
  </mc:AlternateContent>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dirty="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TotalTime>
  <Words>1414</Words>
  <Application>Microsoft Office PowerPoint</Application>
  <PresentationFormat>宽屏</PresentationFormat>
  <Paragraphs>164</Paragraphs>
  <Slides>14</Slides>
  <Notes>14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等线</vt:lpstr>
      <vt:lpstr>楷体</vt:lpstr>
      <vt:lpstr>微软雅黑</vt:lpstr>
      <vt:lpstr>Arial</vt:lpstr>
      <vt:lpstr>Calibri</vt:lpstr>
      <vt:lpstr>Calibri Light</vt:lpstr>
      <vt:lpstr>Microsoft New Tai Lue</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寿山 陈</cp:lastModifiedBy>
  <cp:revision>2141</cp:revision>
  <cp:lastPrinted>2019-10-17T05:03:00Z</cp:lastPrinted>
  <dcterms:created xsi:type="dcterms:W3CDTF">2019-10-11T12:10:00Z</dcterms:created>
  <dcterms:modified xsi:type="dcterms:W3CDTF">2025-12-30T03:40:24Z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63A4A7E8A71D402F8B7318C234343C25_12</vt:lpwstr>
  </property>
  <property fmtid="{D5CDD505-2E9C-101B-9397-08002B2CF9AE}" pid="3" name="KSOProductBuildVer">
    <vt:lpwstr>2052-12.1.0.24034</vt:lpwstr>
  </property>
</Properties>
</file>